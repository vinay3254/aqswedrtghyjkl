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88952" cy="24688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MediCluster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7D2FE"/>
                </a:solidFill>
              </a:rPr>
              <a:t>Patient Health Risk Segregation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5B4FC"/>
                </a:solidFill>
              </a:rPr>
              <a:t>AI-Powered Clinical Decision Support  | 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663440"/>
            <a:ext cx="2286000" cy="1463040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9377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ML Clustering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4663440"/>
            <a:ext cx="2286000" cy="1463040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49377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LungLens Imaging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4663440"/>
            <a:ext cx="2286000" cy="1463040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49377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CliniQ NLP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32520" y="4663440"/>
            <a:ext cx="2286000" cy="1463040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49377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ARIA Dispatch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is MediCluster?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</a:rPr>
              <a:t>A full-stack AI clinical decision support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MediCluster combines machine learning, deep learning, NLP, and AI to help hospitals identify high-risk patients, analyze medical images, manage emergencies, and support clinical decisions.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1920240" cy="16459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7D2FE"/>
                </a:solidFill>
              </a:rPr>
              <a:t>Clustering
Algorithms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2103120"/>
            <a:ext cx="1920240" cy="16459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21945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97180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7D2FE"/>
                </a:solidFill>
              </a:rPr>
              <a:t>Imaging
Models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2103120"/>
            <a:ext cx="1920240" cy="16459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21945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97180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7D2FE"/>
                </a:solidFill>
              </a:rPr>
              <a:t>Languages
Supported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2103120"/>
            <a:ext cx="1920240" cy="16459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21945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14+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97180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7D2FE"/>
                </a:solidFill>
              </a:rPr>
              <a:t>ML/NLP
Endpoints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0" y="2103120"/>
            <a:ext cx="1920240" cy="16459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0" y="21945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297180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7D2FE"/>
                </a:solidFill>
              </a:rPr>
              <a:t>AI-Powered
Dashboards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931920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React 18 + Vite + Tailwind CSS frontend (port 3000)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Node.js 25 + Express API gateway with Anthropic SDK (port 5000)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Python 3.11 + Flask ML engine with PyTorch + scikit-learn (port 8000)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MongoDB 7 with GridFS for images and DICOM files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</a:rPr>
              <a:t>Three-tier microservice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1430000" cy="10515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0759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Browser  (React + Vite)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30759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7D2FE"/>
                </a:solidFill>
              </a:rPr>
              <a:t>port 3000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307592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7FF"/>
                </a:solidFill>
              </a:rPr>
              <a:t>Dashboard, Imaging, CliniQ, Dispatch, Triage, Reminders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2148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</a:rPr>
              <a:t>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96312"/>
            <a:ext cx="11430000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6946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API Gateway  (Node.js)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56946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7D2FE"/>
                </a:solidFill>
              </a:rPr>
              <a:t>port 5000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2569464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7FF"/>
                </a:solidFill>
              </a:rPr>
              <a:t>REST routing, MongoDB persistence, Claude API proxy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41071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758183"/>
            <a:ext cx="11430000" cy="10515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831335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ML Engine  (Python Flask)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831335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7D2FE"/>
                </a:solidFill>
              </a:rPr>
              <a:t>port 8000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3831335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7FF"/>
                </a:solidFill>
              </a:rPr>
              <a:t>Clustering, NLP, DenseNet inference, forecasting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672583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</a:rPr>
              <a:t>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020056"/>
            <a:ext cx="11430000" cy="105156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09320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MongoDB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509320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7D2FE"/>
                </a:solidFill>
              </a:rPr>
              <a:t>port 27017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5093208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7FF"/>
                </a:solidFill>
              </a:rPr>
              <a:t>Patient data, cluster results, GridFS media storage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Patient Risk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</a:rPr>
              <a:t>Core ML feature — unsupervised risk segmentation from CSV vitals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252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K-Means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72768"/>
            <a:ext cx="2743200" cy="2359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645920"/>
            <a:ext cx="2523744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Spherical clusters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Fast convergence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Auto-K via Elbow+Silhouette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188720"/>
            <a:ext cx="274320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2252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DBSCAN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572768"/>
            <a:ext cx="2743200" cy="2359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568" y="1645920"/>
            <a:ext cx="2523744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Arbitrary shape clusters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Noise/outlier isolation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No K needed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188720"/>
            <a:ext cx="2743200" cy="384048"/>
          </a:xfrm>
          <a:prstGeom prst="rect">
            <a:avLst/>
          </a:prstGeom>
          <a:solidFill>
            <a:srgbClr val="7E2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2252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Hierarchical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572768"/>
            <a:ext cx="2743200" cy="2359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1645920"/>
            <a:ext cx="2523744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Dendrogram visualization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Ward/complete linkage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Any cluster count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1188720"/>
            <a:ext cx="2743200" cy="38404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2252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GMM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1572768"/>
            <a:ext cx="2743200" cy="2359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3728" y="1645920"/>
            <a:ext cx="2523744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Soft membership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Probabilistic assignment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Covariance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114800"/>
            <a:ext cx="11430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AutoML: automatic K selection (Elbow + Silhouette sweep K=2..10)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SHAP explainability: per-patient feature contribution scores shown per cluster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Isolation Forest anomaly detection flags statistical outliers within clusters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UMAP + t-SNE 2D projections as alternatives to PCA scatter plot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Risk tiers assigned: Critical / High / Moderate / Low / Noise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Medical Imaging — LungLens + DenseNet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</a:rPr>
              <a:t>Six model options for chest X-ray and general medical image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657600" cy="10972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CheXNet (CheXpert) — recommended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234440"/>
            <a:ext cx="3657600" cy="10972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5087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DenseNet121 All datasets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234440"/>
            <a:ext cx="3657600" cy="10972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5087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ResNet50 High-res 512px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3657600" cy="10972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34639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DenseNet121 NIH ChestX-ray14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2560320"/>
            <a:ext cx="3657600" cy="10972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2834639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DenseNet121 PadChest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560320"/>
            <a:ext cx="3657600" cy="1097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834639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LungLens (Claude Vision 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977639"/>
            <a:ext cx="114300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Each finding returns: label, confidence %, severity badge (HIGH / MODERATE / LOW), cause, medications, prevention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LungLens uses Claude Sonnet 4.6 Vision — works on any medical image, not just chest X-rays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Grad-CAM heatmaps show which image region triggered each pathology detection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AI Deep Explanation: Claude generates plain-English paragraph summary of all findings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DICOM (.dcm) file support with CLAHE contrast enhancement preprocessing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CliniQ — Multilingual AI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</a:rPr>
              <a:t>Vision-capable AI chat for medical image Q&amp;A in 5 Indian + English languages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2011680" cy="16459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920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7FF"/>
                </a:solidFill>
              </a:rPr>
              <a:t>Latin script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7D2FE"/>
                </a:solidFill>
              </a:rPr>
              <a:t>en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1234440"/>
            <a:ext cx="2011680" cy="16459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13258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Hindi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1920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7FF"/>
                </a:solidFill>
              </a:rPr>
              <a:t>Devanagari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377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7D2FE"/>
                </a:solidFill>
              </a:rPr>
              <a:t>hi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1234440"/>
            <a:ext cx="2011680" cy="1645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13258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Kannada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1920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7FF"/>
                </a:solidFill>
              </a:rPr>
              <a:t>Kannada script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377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7D2FE"/>
                </a:solidFill>
              </a:rPr>
              <a:t>kn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1234440"/>
            <a:ext cx="2011680" cy="16459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0" y="13258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Telugu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1920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7FF"/>
                </a:solidFill>
              </a:rPr>
              <a:t>Telugu script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377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7D2FE"/>
                </a:solidFill>
              </a:rPr>
              <a:t>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09760" y="1234440"/>
            <a:ext cx="2011680" cy="1645920"/>
          </a:xfrm>
          <a:prstGeom prst="rect">
            <a:avLst/>
          </a:prstGeom>
          <a:solidFill>
            <a:srgbClr val="7E2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0" y="13258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Tamil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1920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7FF"/>
                </a:solidFill>
              </a:rPr>
              <a:t>Tamil script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2377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7D2FE"/>
                </a:solidFill>
              </a:rPr>
              <a:t>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3063240"/>
            <a:ext cx="114300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Language selector dropdown in CliniQ header — always visible, defaults to English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Claude Sonnet 4.6 receives a system prompt instructing it to respond entirely in the selected language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All section headings (Condition Name, Prevention, Treatment, Medications) translated automatically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Medical disclaimer translated — 'Educational purposes only, consult a physician'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Multi-turn conversation maintains language across follow-up questions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Resets to English on 'New Chat'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Clinical NLP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</a:rPr>
              <a:t>Natural language processing for clinical notes, prescriptions, and drug safety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274320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7101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NER + ICD-10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18488"/>
            <a:ext cx="2743200" cy="20848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691640"/>
            <a:ext cx="2523744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Named entity recognition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Drugs, diagnoses, symptoms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ICD-10 code suggestion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234440"/>
            <a:ext cx="2743200" cy="38404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27101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Drug Interactions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618488"/>
            <a:ext cx="2743200" cy="20848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568" y="1691640"/>
            <a:ext cx="2523744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12-pair knowledge base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Major / moderate severity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Warfarin, metformin, etc.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2743200" cy="38404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27101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Prescription Extract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618488"/>
            <a:ext cx="2743200" cy="20848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1691640"/>
            <a:ext cx="2523744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Free-text prescription input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Extract drug, dose, frequency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Claude fallback if regex fails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1234440"/>
            <a:ext cx="2743200" cy="384048"/>
          </a:xfrm>
          <a:prstGeom prst="rect">
            <a:avLst/>
          </a:prstGeom>
          <a:solidFill>
            <a:srgbClr val="7E2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27101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Patient Trajectory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1618488"/>
            <a:ext cx="2743200" cy="20848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3728" y="1691640"/>
            <a:ext cx="2523744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Classify note sentiment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Improving / stable / deteriorating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Risk keyword lexicon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88620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Vital Signs Forecasting: LSTM + Prophet time-series for HR, BP, SpO2, temperature, respiratory rate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MEWS Score: Modified Early Warning Score — returns alert level: low / moderate / high / critical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RAG Chatbot: FAISS vector store + TF-IDF fallback for patient Q&amp;A on clinical notes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4155"/>
                </a:solidFill>
              </a:rPr>
              <a:t>•  Anomaly Detection: Isolation Forest flags statistical outliers across patient features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ARIA Dispatch + MCI Triage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</a:rPr>
              <a:t>AI-powered emergency response and mass casualty incident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486400" cy="5212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486400" cy="4114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ARIA — Ambulance Dispatch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55648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334155"/>
                </a:solidFill>
              </a:rPr>
              <a:t>•  Live Leaflet.js dispatcher map with ambulance positions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334155"/>
                </a:solidFill>
              </a:rPr>
              <a:t>•  Real-time status: available / en_route / at_scene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334155"/>
                </a:solidFill>
              </a:rPr>
              <a:t>•  Claude selects nearest ambulance + best hospital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334155"/>
                </a:solidFill>
              </a:rPr>
              <a:t>•  Hospital match by bed count and specialty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334155"/>
                </a:solidFill>
              </a:rPr>
              <a:t>•  Route polyline visualization on map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334155"/>
                </a:solidFill>
              </a:rPr>
              <a:t>•  Driver dashboard with patient alert overlays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334155"/>
                </a:solidFill>
              </a:rPr>
              <a:t>•  Full dispatch history (resolve/cancel)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234440"/>
            <a:ext cx="5486400" cy="5212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234440"/>
            <a:ext cx="548640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2618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MCI Triage 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755648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334155"/>
                </a:solidFill>
              </a:rPr>
              <a:t>•  Voice-to-triage: speak/type patient condition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334155"/>
                </a:solidFill>
              </a:rPr>
              <a:t>•  Claude extracts vitals + assigns P1/P2/P3/P4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334155"/>
                </a:solidFill>
              </a:rPr>
              <a:t>•  Stateless scoring: instant score, no DB write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334155"/>
                </a:solidFill>
              </a:rPr>
              <a:t>•  Hospital allocation by triage category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334155"/>
                </a:solidFill>
              </a:rPr>
              <a:t>•  Pathway flags (trauma/cardiac/respiratory)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334155"/>
                </a:solidFill>
              </a:rPr>
              <a:t>•  Live patient cards with vitals history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334155"/>
                </a:solidFill>
              </a:rPr>
              <a:t>•  Transport status tracking per patient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</a:rPr>
              <a:t>Full-stack AI platform built on open-source and cloud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210312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71016"/>
            <a:ext cx="1920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Frontend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18488"/>
            <a:ext cx="2103120" cy="4828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691640"/>
            <a:ext cx="1883663" cy="4681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React 18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Vite 5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Tailwind CSS 3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Recharts + D3.js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React Router 6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1234440"/>
            <a:ext cx="210312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1271016"/>
            <a:ext cx="1920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1618488"/>
            <a:ext cx="2103120" cy="4828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1488" y="1691640"/>
            <a:ext cx="1883663" cy="4681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Node.js 25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Express 4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Mongoose 8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Multer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Anthropic SDK 0.95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1234440"/>
            <a:ext cx="2103120" cy="384048"/>
          </a:xfrm>
          <a:prstGeom prst="rect">
            <a:avLst/>
          </a:prstGeom>
          <a:solidFill>
            <a:srgbClr val="7E2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271016"/>
            <a:ext cx="1920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ML / 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1618488"/>
            <a:ext cx="2103120" cy="4828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488" y="1691640"/>
            <a:ext cx="1883663" cy="4681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Python 3.11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Flask 3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scikit-learn 1.4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PyTorch 2.2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torchxrayvision 1.0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1234440"/>
            <a:ext cx="2103120" cy="38404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1271016"/>
            <a:ext cx="1920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NLP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1618488"/>
            <a:ext cx="2103120" cy="4828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3488" y="1691640"/>
            <a:ext cx="1883663" cy="4681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spaCy 3.7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scispaCy 0.5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HuggingFace 4.40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FAISS 1.8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SHAP 0.45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09760" y="1234440"/>
            <a:ext cx="2103120" cy="3840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1271016"/>
            <a:ext cx="1920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Data / AI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618488"/>
            <a:ext cx="2103120" cy="4828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19488" y="1691640"/>
            <a:ext cx="1883663" cy="4681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MongoDB 7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GridFS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UMAP-learn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Prophet 1.1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Claude Sonnet 4.6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Recent Feature Additions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</a:rPr>
              <a:t>New capabilities added in latest development 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274320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7101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Multilingual CliniQ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18488"/>
            <a:ext cx="2743200" cy="4828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691640"/>
            <a:ext cx="2523744" cy="4681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Language selector: EN / HI / KN / TE / TA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Claude responds in full selected language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All headings + disclaimer translated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Resets to English on New Chat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234440"/>
            <a:ext cx="2743200" cy="3840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27101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LungLens (Claude Vision)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618488"/>
            <a:ext cx="2743200" cy="4828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568" y="1691640"/>
            <a:ext cx="2523744" cy="4681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6th imaging model option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Works on any medical image type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Same structured output as DenseNet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Confidence, severity, medications, prevention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2743200" cy="38404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27101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Shared Anthropic Client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618488"/>
            <a:ext cx="2743200" cy="4828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1691640"/>
            <a:ext cx="2523744" cy="4681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Single SDK client with 120s timeout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Fixed APIConnectionTimeoutError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Re-used across all 4 Claude endpoints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Faster due to connection reuse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1234440"/>
            <a:ext cx="2743200" cy="3840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27101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Dispatch Maps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1618488"/>
            <a:ext cx="2743200" cy="4828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3728" y="1691640"/>
            <a:ext cx="2523744" cy="4681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Live Leaflet.js dispatcher map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Driver dashboard with patient alerts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Route polyline visualization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4155"/>
                </a:solidFill>
              </a:rPr>
              <a:t>•  Ambulance + hospital overlays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88952" cy="2286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371600"/>
            <a:ext cx="121889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017520"/>
            <a:ext cx="12188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7D2FE"/>
                </a:solidFill>
              </a:rPr>
              <a:t>MediCluster — Patient Health Risk Segregation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749039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A5B4FC"/>
                </a:solidFill>
              </a:rPr>
              <a:t>http://localhost:3000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937760"/>
            <a:ext cx="2286000" cy="1280160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25780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ML Clustering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703320" y="4937760"/>
            <a:ext cx="2286000" cy="1280160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525780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LungLens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4937760"/>
            <a:ext cx="2286000" cy="1280160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525780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CliniQ NLP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15400" y="4937760"/>
            <a:ext cx="2286000" cy="1280160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525780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ARIA Dispatch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