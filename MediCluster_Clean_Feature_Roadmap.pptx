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58368"/>
            <a:ext cx="2423160" cy="32004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850" b="1">
                <a:solidFill>
                  <a:srgbClr val="1D4ED8"/>
                </a:solidFill>
                <a:latin typeface="Aptos"/>
              </a:rPr>
              <a:t>AI PATIENT RISK SEGREGATION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675120" cy="77724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 Display"/>
              </a:rPr>
              <a:t>MediCluster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240280"/>
            <a:ext cx="6309360" cy="6858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A clinical dashboard for clustering patient populations, identifying risk tiers, and extending care workflows with AI.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3355848"/>
            <a:ext cx="73152" cy="73152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73552"/>
            <a:ext cx="568756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Unsupervised patient risk stratification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85032"/>
            <a:ext cx="73152" cy="73152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02736"/>
            <a:ext cx="568756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Imaging analysis and patient overview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014215"/>
            <a:ext cx="73152" cy="73152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568756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Medication reminders, dispatch, and MCI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989320"/>
            <a:ext cx="5120640" cy="256032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CtrlAltElite | M S Engineering College | May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143000"/>
            <a:ext cx="2971800" cy="493776"/>
          </a:xfrm>
          <a:prstGeom prst="roundRect">
            <a:avLst/>
          </a:prstGeom>
          <a:solidFill>
            <a:srgbClr val="334155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1252728"/>
            <a:ext cx="274320" cy="2743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1261872"/>
            <a:ext cx="214884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Data Upload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56648" y="1655064"/>
            <a:ext cx="0" cy="201168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75320" y="1874519"/>
            <a:ext cx="2971800" cy="493776"/>
          </a:xfrm>
          <a:prstGeom prst="roundRect">
            <a:avLst/>
          </a:prstGeom>
          <a:solidFill>
            <a:srgbClr val="334155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1984248"/>
            <a:ext cx="274320" cy="274320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1993391"/>
            <a:ext cx="214884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Clustering Engine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756648" y="2386584"/>
            <a:ext cx="0" cy="201168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75320" y="2606040"/>
            <a:ext cx="2971800" cy="493776"/>
          </a:xfrm>
          <a:prstGeom prst="roundRect">
            <a:avLst/>
          </a:prstGeom>
          <a:solidFill>
            <a:srgbClr val="334155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0" y="2715768"/>
            <a:ext cx="274320" cy="27432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724912"/>
            <a:ext cx="214884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Risk Tiers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56648" y="3118104"/>
            <a:ext cx="0" cy="201168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75320" y="3337560"/>
            <a:ext cx="2971800" cy="493776"/>
          </a:xfrm>
          <a:prstGeom prst="roundRect">
            <a:avLst/>
          </a:prstGeom>
          <a:solidFill>
            <a:srgbClr val="334155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80" y="3447288"/>
            <a:ext cx="274320" cy="2743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3456432"/>
            <a:ext cx="214884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Clinical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343400"/>
            <a:ext cx="132588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20" y="4343400"/>
            <a:ext cx="73152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31352" y="4507992"/>
            <a:ext cx="960119" cy="310896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 Display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1352" y="4937760"/>
            <a:ext cx="960119" cy="29260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Algorithms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02368" y="4343400"/>
            <a:ext cx="132588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02368" y="4343400"/>
            <a:ext cx="73152" cy="82296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0" y="4507992"/>
            <a:ext cx="960119" cy="310896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 Display"/>
              </a:rPr>
              <a:t>8+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4937760"/>
            <a:ext cx="960119" cy="29260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App Modules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5349240"/>
            <a:ext cx="2852928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20" y="5349240"/>
            <a:ext cx="73152" cy="822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2" y="5513831"/>
            <a:ext cx="2487168" cy="310896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 Display"/>
              </a:rPr>
              <a:t>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1352" y="5943600"/>
            <a:ext cx="2487168" cy="29260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Next clinical intelligence features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6510528"/>
            <a:ext cx="502920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MediCluster | Patient Health Risk Segregation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r"/>
            <a:r>
              <a:rPr sz="850" b="0">
                <a:solidFill>
                  <a:srgbClr val="CBD5E1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412480" cy="4114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601200" cy="32004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Healthcare teams need fast, explainable patient risk grouping from mixed clinical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49834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1719072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682496"/>
            <a:ext cx="384048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Unlabelled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066544"/>
            <a:ext cx="3886200" cy="4572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Many datasets do not include clean risk labels, making supervised prediction difficult.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481328"/>
            <a:ext cx="49834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19072"/>
            <a:ext cx="438912" cy="43891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48" y="1682496"/>
            <a:ext cx="384048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Fragmented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2066544"/>
            <a:ext cx="3886200" cy="4572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Vitals, images, medications, triage, and dispatch data often live in separate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172968"/>
            <a:ext cx="49834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6968" y="3410712"/>
            <a:ext cx="438912" cy="43891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374136"/>
            <a:ext cx="384048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Slow escalation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758184"/>
            <a:ext cx="3886200" cy="4572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Clinicians need early signals before deterioration becomes obvious at the bedside.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172968"/>
            <a:ext cx="49834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3410712"/>
            <a:ext cx="438912" cy="43891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3374136"/>
            <a:ext cx="384048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Low trust in black boxes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3448" y="3758184"/>
            <a:ext cx="3886200" cy="4572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Risk predictions must show why a patient is high risk, not only the final label.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166360"/>
            <a:ext cx="10863072" cy="74980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358384"/>
            <a:ext cx="10241280" cy="256032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Aptos"/>
              </a:rPr>
              <a:t>Goal: convert raw patient data into risk tiers, explanations, and operational next steps in one dashboard.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502920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MediCluster | Patient Health Risk Segregation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412480" cy="4114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601200" cy="32004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MediCluster turns patient rows into interpretable cohorts and care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9202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" y="1737360"/>
            <a:ext cx="329184" cy="32918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" y="1719072"/>
            <a:ext cx="1508760" cy="256032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57984"/>
            <a:ext cx="1463040" cy="777239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CSV or sample patient records with vitals and labs.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2304288"/>
            <a:ext cx="320040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39" y="1554480"/>
            <a:ext cx="19202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99232" y="1737360"/>
            <a:ext cx="329184" cy="329184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144" y="1719072"/>
            <a:ext cx="1508760" cy="256032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2157984"/>
            <a:ext cx="1463040" cy="777239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Clean numeric features, impute missing values, scale, and reduce dimensions.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79" y="2304288"/>
            <a:ext cx="320041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59" y="1554480"/>
            <a:ext cx="19202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30951" y="1737360"/>
            <a:ext cx="329184" cy="32918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1719072"/>
            <a:ext cx="1508760" cy="256032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Cluster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2157984"/>
            <a:ext cx="1463040" cy="777239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K-Means, DBSCAN, Hierarchical, or GMM groups similar patients.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86600" y="2304288"/>
            <a:ext cx="320040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79" y="1554480"/>
            <a:ext cx="19202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62671" y="1737360"/>
            <a:ext cx="329184" cy="3291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1719072"/>
            <a:ext cx="1508760" cy="256032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Label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157984"/>
            <a:ext cx="1463040" cy="777239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Composite clinical signals map clusters to Low, Moderate, High, Critical.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18319" y="2304288"/>
            <a:ext cx="320040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29800" y="1554480"/>
            <a:ext cx="19202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94392" y="1737360"/>
            <a:ext cx="329184" cy="32918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3304" y="1719072"/>
            <a:ext cx="1508760" cy="256032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157984"/>
            <a:ext cx="1463040" cy="777239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Review dashboards, patient profiles, imaging, reminders, triage, and dispatch.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886200"/>
            <a:ext cx="3246120" cy="1115568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096512"/>
            <a:ext cx="2743200" cy="256032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400" b="1">
                <a:solidFill>
                  <a:srgbClr val="065F46"/>
                </a:solidFill>
                <a:latin typeface="Aptos"/>
              </a:rPr>
              <a:t>Clinician-facing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462272"/>
            <a:ext cx="274320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065F46"/>
                </a:solidFill>
                <a:latin typeface="Aptos"/>
              </a:rPr>
              <a:t>Risk tiers, tables, plots, metrics, profiles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886200"/>
            <a:ext cx="3246120" cy="111556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096512"/>
            <a:ext cx="2743200" cy="256032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Aptos"/>
              </a:rPr>
              <a:t>ML-facing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462272"/>
            <a:ext cx="274320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1D4ED8"/>
                </a:solidFill>
                <a:latin typeface="Aptos"/>
              </a:rPr>
              <a:t>Cluster quality, PCA/UMAP/t-SNE, anomalies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3886200"/>
            <a:ext cx="3246120" cy="1115568"/>
          </a:xfrm>
          <a:prstGeom prst="roundRect">
            <a:avLst/>
          </a:prstGeom>
          <a:solidFill>
            <a:srgbClr val="EDE9FE"/>
          </a:solidFill>
          <a:ln w="1016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096512"/>
            <a:ext cx="2743200" cy="256032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Workflow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462272"/>
            <a:ext cx="274320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7C3AED"/>
                </a:solidFill>
                <a:latin typeface="Aptos"/>
              </a:rPr>
              <a:t>Imaging, reminders, MCI board, dispatch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510528"/>
            <a:ext cx="502920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MediCluster | Patient Health Risk Segregation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412480" cy="4114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601200" cy="32004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Three-service app: React dashboard, Node API gateway, Python ML engine, MongoDB 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2743200" cy="356616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224028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700" b="1">
                <a:solidFill>
                  <a:srgbClr val="1D4ED8"/>
                </a:solidFill>
                <a:latin typeface="Aptos"/>
              </a:rPr>
              <a:t>React Frontend</a:t>
            </a:r>
          </a:p>
        </p:txBody>
      </p:sp>
      <p:sp>
        <p:nvSpPr>
          <p:cNvPr id="7" name="Oval 6"/>
          <p:cNvSpPr/>
          <p:nvPr/>
        </p:nvSpPr>
        <p:spPr>
          <a:xfrm>
            <a:off x="978408" y="2139696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21214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Dashboard</a:t>
            </a:r>
          </a:p>
        </p:txBody>
      </p:sp>
      <p:sp>
        <p:nvSpPr>
          <p:cNvPr id="9" name="Oval 8"/>
          <p:cNvSpPr/>
          <p:nvPr/>
        </p:nvSpPr>
        <p:spPr>
          <a:xfrm>
            <a:off x="978408" y="2432303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50008"/>
            <a:ext cx="21214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Imaging</a:t>
            </a:r>
          </a:p>
        </p:txBody>
      </p:sp>
      <p:sp>
        <p:nvSpPr>
          <p:cNvPr id="11" name="Oval 10"/>
          <p:cNvSpPr/>
          <p:nvPr/>
        </p:nvSpPr>
        <p:spPr>
          <a:xfrm>
            <a:off x="978408" y="2724912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642616"/>
            <a:ext cx="21214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Predict</a:t>
            </a:r>
          </a:p>
        </p:txBody>
      </p:sp>
      <p:sp>
        <p:nvSpPr>
          <p:cNvPr id="13" name="Oval 12"/>
          <p:cNvSpPr/>
          <p:nvPr/>
        </p:nvSpPr>
        <p:spPr>
          <a:xfrm>
            <a:off x="978408" y="3017520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935224"/>
            <a:ext cx="21214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Patients</a:t>
            </a:r>
          </a:p>
        </p:txBody>
      </p:sp>
      <p:sp>
        <p:nvSpPr>
          <p:cNvPr id="15" name="Oval 14"/>
          <p:cNvSpPr/>
          <p:nvPr/>
        </p:nvSpPr>
        <p:spPr>
          <a:xfrm>
            <a:off x="978408" y="3310128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227832"/>
            <a:ext cx="21214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MCI 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325880"/>
            <a:ext cx="2743200" cy="3566160"/>
          </a:xfrm>
          <a:prstGeom prst="roundRect">
            <a:avLst/>
          </a:prstGeom>
          <a:solidFill>
            <a:srgbClr val="F0FDFA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1572768"/>
            <a:ext cx="224028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700" b="1">
                <a:solidFill>
                  <a:srgbClr val="0F766E"/>
                </a:solidFill>
                <a:latin typeface="Aptos"/>
              </a:rPr>
              <a:t>Node API Gateway</a:t>
            </a:r>
          </a:p>
        </p:txBody>
      </p:sp>
      <p:sp>
        <p:nvSpPr>
          <p:cNvPr id="19" name="Oval 18"/>
          <p:cNvSpPr/>
          <p:nvPr/>
        </p:nvSpPr>
        <p:spPr>
          <a:xfrm>
            <a:off x="4864607" y="2139696"/>
            <a:ext cx="73152" cy="73152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199" y="2057400"/>
            <a:ext cx="21214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Dataset routes</a:t>
            </a:r>
          </a:p>
        </p:txBody>
      </p:sp>
      <p:sp>
        <p:nvSpPr>
          <p:cNvPr id="21" name="Oval 20"/>
          <p:cNvSpPr/>
          <p:nvPr/>
        </p:nvSpPr>
        <p:spPr>
          <a:xfrm>
            <a:off x="4864607" y="2432303"/>
            <a:ext cx="73152" cy="73152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199" y="2350008"/>
            <a:ext cx="21214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Cluster routes</a:t>
            </a:r>
          </a:p>
        </p:txBody>
      </p:sp>
      <p:sp>
        <p:nvSpPr>
          <p:cNvPr id="23" name="Oval 22"/>
          <p:cNvSpPr/>
          <p:nvPr/>
        </p:nvSpPr>
        <p:spPr>
          <a:xfrm>
            <a:off x="4864607" y="2724912"/>
            <a:ext cx="73152" cy="73152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199" y="2642616"/>
            <a:ext cx="21214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Media routes</a:t>
            </a:r>
          </a:p>
        </p:txBody>
      </p:sp>
      <p:sp>
        <p:nvSpPr>
          <p:cNvPr id="25" name="Oval 24"/>
          <p:cNvSpPr/>
          <p:nvPr/>
        </p:nvSpPr>
        <p:spPr>
          <a:xfrm>
            <a:off x="4864607" y="3017520"/>
            <a:ext cx="73152" cy="73152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199" y="2935224"/>
            <a:ext cx="21214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Triage routes</a:t>
            </a:r>
          </a:p>
        </p:txBody>
      </p:sp>
      <p:sp>
        <p:nvSpPr>
          <p:cNvPr id="27" name="Oval 26"/>
          <p:cNvSpPr/>
          <p:nvPr/>
        </p:nvSpPr>
        <p:spPr>
          <a:xfrm>
            <a:off x="4864607" y="3310128"/>
            <a:ext cx="73152" cy="73152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199" y="3227832"/>
            <a:ext cx="21214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AI routes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1325880"/>
            <a:ext cx="2743200" cy="356616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1572768"/>
            <a:ext cx="224028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700" b="1">
                <a:solidFill>
                  <a:srgbClr val="7C3AED"/>
                </a:solidFill>
                <a:latin typeface="Aptos"/>
              </a:rPr>
              <a:t>Python ML Engine</a:t>
            </a:r>
          </a:p>
        </p:txBody>
      </p:sp>
      <p:sp>
        <p:nvSpPr>
          <p:cNvPr id="31" name="Oval 30"/>
          <p:cNvSpPr/>
          <p:nvPr/>
        </p:nvSpPr>
        <p:spPr>
          <a:xfrm>
            <a:off x="8750808" y="2139696"/>
            <a:ext cx="73152" cy="731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2057400"/>
            <a:ext cx="21214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Clustering</a:t>
            </a:r>
          </a:p>
        </p:txBody>
      </p:sp>
      <p:sp>
        <p:nvSpPr>
          <p:cNvPr id="33" name="Oval 32"/>
          <p:cNvSpPr/>
          <p:nvPr/>
        </p:nvSpPr>
        <p:spPr>
          <a:xfrm>
            <a:off x="8750808" y="2432303"/>
            <a:ext cx="73152" cy="731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2350008"/>
            <a:ext cx="21214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Explainability</a:t>
            </a:r>
          </a:p>
        </p:txBody>
      </p:sp>
      <p:sp>
        <p:nvSpPr>
          <p:cNvPr id="35" name="Oval 34"/>
          <p:cNvSpPr/>
          <p:nvPr/>
        </p:nvSpPr>
        <p:spPr>
          <a:xfrm>
            <a:off x="8750808" y="2724912"/>
            <a:ext cx="73152" cy="731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2642616"/>
            <a:ext cx="21214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Anomalies</a:t>
            </a:r>
          </a:p>
        </p:txBody>
      </p:sp>
      <p:sp>
        <p:nvSpPr>
          <p:cNvPr id="37" name="Oval 36"/>
          <p:cNvSpPr/>
          <p:nvPr/>
        </p:nvSpPr>
        <p:spPr>
          <a:xfrm>
            <a:off x="8750808" y="3017520"/>
            <a:ext cx="73152" cy="731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5400" y="2935224"/>
            <a:ext cx="21214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NLP</a:t>
            </a:r>
          </a:p>
        </p:txBody>
      </p:sp>
      <p:sp>
        <p:nvSpPr>
          <p:cNvPr id="39" name="Oval 38"/>
          <p:cNvSpPr/>
          <p:nvPr/>
        </p:nvSpPr>
        <p:spPr>
          <a:xfrm>
            <a:off x="8750808" y="3310128"/>
            <a:ext cx="73152" cy="731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15400" y="3227832"/>
            <a:ext cx="21214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Imaging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520440" y="2971800"/>
            <a:ext cx="1143000" cy="0"/>
          </a:xfrm>
          <a:prstGeom prst="line">
            <a:avLst/>
          </a:prstGeom>
          <a:ln w="228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406640" y="2971800"/>
            <a:ext cx="1143000" cy="0"/>
          </a:xfrm>
          <a:prstGeom prst="line">
            <a:avLst/>
          </a:prstGeom>
          <a:ln w="228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566160" y="5257800"/>
            <a:ext cx="507492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13632" y="5413248"/>
            <a:ext cx="438912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1">
                <a:solidFill>
                  <a:srgbClr val="475569"/>
                </a:solidFill>
                <a:latin typeface="Aptos"/>
              </a:rPr>
              <a:t>MongoDB stores datasets, cluster results, media metadata, reminders, dispatch records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035040" y="4892040"/>
            <a:ext cx="0" cy="36576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30352" y="6510528"/>
            <a:ext cx="502920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MediCluster | Patient Health Risk Segregation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412480" cy="4114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Current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601200" cy="32004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What is already present in the codebase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364992" cy="1353312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283464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500" b="1">
                <a:solidFill>
                  <a:srgbClr val="1D4ED8"/>
                </a:solidFill>
                <a:latin typeface="Aptos"/>
              </a:rPr>
              <a:t>Risk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852928" cy="5029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K-Means, DBSCAN, Hierarchical, GMM, comparison metrics, risk distribution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3984" y="1371600"/>
            <a:ext cx="3364992" cy="1353312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2584" y="1572768"/>
            <a:ext cx="283464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500" b="1">
                <a:solidFill>
                  <a:srgbClr val="065F46"/>
                </a:solidFill>
                <a:latin typeface="Aptos"/>
              </a:rPr>
              <a:t>Patient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2584" y="1965960"/>
            <a:ext cx="2852928" cy="5029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Cluster history, patient media, overall risk, searchable patient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1371600"/>
            <a:ext cx="3364992" cy="1353312"/>
          </a:xfrm>
          <a:prstGeom prst="roundRect">
            <a:avLst/>
          </a:prstGeom>
          <a:solidFill>
            <a:srgbClr val="EDE9FE"/>
          </a:solidFill>
          <a:ln w="1016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1572768"/>
            <a:ext cx="283464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ptos"/>
              </a:rPr>
              <a:t>Imaging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1965960"/>
            <a:ext cx="2852928" cy="5029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X-ray/DICOM upload, model selector, pathology findings, clinical info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00400"/>
            <a:ext cx="3364992" cy="1353312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01568"/>
            <a:ext cx="283464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500" b="1">
                <a:solidFill>
                  <a:srgbClr val="92400E"/>
                </a:solidFill>
                <a:latin typeface="Aptos"/>
              </a:rPr>
              <a:t>Risk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94760"/>
            <a:ext cx="2852928" cy="5029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Predict new patient tier from saved cluster centroids and vitals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3984" y="3200400"/>
            <a:ext cx="3364992" cy="1353312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584" y="3401568"/>
            <a:ext cx="283464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Aptos"/>
              </a:rPr>
              <a:t>Medication Reminders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3794760"/>
            <a:ext cx="2852928" cy="5029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Medication schedule builder plus AI prescription parser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3200400"/>
            <a:ext cx="3364992" cy="1353312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3401568"/>
            <a:ext cx="283464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Aptos"/>
              </a:rPr>
              <a:t>Emergency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3794760"/>
            <a:ext cx="2852928" cy="5029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Dispatch, MCI triage board, voice-to-triage, hospital allocation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502920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MediCluster | Patient Health Risk Segregation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412480" cy="4114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Dashboard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601200" cy="32004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A single workbench for clustering runs, risk distribution, patient tables, and exports.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812280" cy="3831908"/>
          </a:xfrm>
          <a:prstGeom prst="rect">
            <a:avLst/>
          </a:prstGeom>
          <a:ln w="1016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7863840" y="1417320"/>
            <a:ext cx="361188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719072"/>
            <a:ext cx="2971800" cy="29260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Core UI Surfaces</a:t>
            </a:r>
          </a:p>
        </p:txBody>
      </p:sp>
      <p:sp>
        <p:nvSpPr>
          <p:cNvPr id="8" name="Oval 7"/>
          <p:cNvSpPr/>
          <p:nvPr/>
        </p:nvSpPr>
        <p:spPr>
          <a:xfrm>
            <a:off x="8183879" y="2295144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1" y="2212848"/>
            <a:ext cx="276148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Aptos"/>
              </a:rPr>
              <a:t>Upload and preview datasets</a:t>
            </a:r>
          </a:p>
        </p:txBody>
      </p:sp>
      <p:sp>
        <p:nvSpPr>
          <p:cNvPr id="10" name="Oval 9"/>
          <p:cNvSpPr/>
          <p:nvPr/>
        </p:nvSpPr>
        <p:spPr>
          <a:xfrm>
            <a:off x="8183879" y="2642615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2560320"/>
            <a:ext cx="276148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Aptos"/>
              </a:rPr>
              <a:t>Tune clustering parameters</a:t>
            </a:r>
          </a:p>
        </p:txBody>
      </p:sp>
      <p:sp>
        <p:nvSpPr>
          <p:cNvPr id="12" name="Oval 11"/>
          <p:cNvSpPr/>
          <p:nvPr/>
        </p:nvSpPr>
        <p:spPr>
          <a:xfrm>
            <a:off x="8183879" y="2990087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2907791"/>
            <a:ext cx="276148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Aptos"/>
              </a:rPr>
              <a:t>Explore PCA scatter plots</a:t>
            </a:r>
          </a:p>
        </p:txBody>
      </p:sp>
      <p:sp>
        <p:nvSpPr>
          <p:cNvPr id="14" name="Oval 13"/>
          <p:cNvSpPr/>
          <p:nvPr/>
        </p:nvSpPr>
        <p:spPr>
          <a:xfrm>
            <a:off x="8183879" y="3337560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3255264"/>
            <a:ext cx="276148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Aptos"/>
              </a:rPr>
              <a:t>Compare algorithms side-by-side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3685032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3602736"/>
            <a:ext cx="276148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Aptos"/>
              </a:rPr>
              <a:t>Export reports to PDF</a:t>
            </a:r>
          </a:p>
        </p:txBody>
      </p:sp>
      <p:sp>
        <p:nvSpPr>
          <p:cNvPr id="18" name="Oval 17"/>
          <p:cNvSpPr/>
          <p:nvPr/>
        </p:nvSpPr>
        <p:spPr>
          <a:xfrm>
            <a:off x="8183879" y="4032504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3950208"/>
            <a:ext cx="276148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Aptos"/>
              </a:rPr>
              <a:t>Open patient-level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10528"/>
            <a:ext cx="502920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MediCluster | Patient Health Risk Segregation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412480" cy="4114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AI/ML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601200" cy="32004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Existing ML endpoints create a strong base for the next feature push.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74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" y="1472184"/>
            <a:ext cx="320040" cy="3200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435607"/>
            <a:ext cx="393192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709928"/>
            <a:ext cx="393192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K-Means, DBSCAN, Hierarchical, GMM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5074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" y="2478024"/>
            <a:ext cx="320040" cy="3200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441448"/>
            <a:ext cx="393192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AutoML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715768"/>
            <a:ext cx="393192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Optimal K, feature ranking, UMAP/t-SNE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37560"/>
            <a:ext cx="5074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3483864"/>
            <a:ext cx="320040" cy="3200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447288"/>
            <a:ext cx="393192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Explainability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721608"/>
            <a:ext cx="393192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SHAP global and per-patient feature drivers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43400"/>
            <a:ext cx="5074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4489704"/>
            <a:ext cx="320040" cy="3200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453128"/>
            <a:ext cx="393192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Anomaly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727448"/>
            <a:ext cx="393192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Isolation Forest patient outlier flags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325880"/>
            <a:ext cx="5074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472184"/>
            <a:ext cx="320040" cy="320040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1435607"/>
            <a:ext cx="393192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Clinical NLP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1709928"/>
            <a:ext cx="393192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Notes analysis, risk keywords, ICD-10 suggestions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331720"/>
            <a:ext cx="5074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65392" y="2478024"/>
            <a:ext cx="320040" cy="320040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441448"/>
            <a:ext cx="393192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Forecasting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715768"/>
            <a:ext cx="393192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Vitals trend prediction and MEWS scoring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337560"/>
            <a:ext cx="5074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65392" y="3483864"/>
            <a:ext cx="320040" cy="320040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3447288"/>
            <a:ext cx="393192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Medical Imaging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3721608"/>
            <a:ext cx="393192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Pathology detection and Grad-CAM heatmaps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343400"/>
            <a:ext cx="5074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4489704"/>
            <a:ext cx="320040" cy="320040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4453128"/>
            <a:ext cx="393192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RAG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4727448"/>
            <a:ext cx="393192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Natural-language Q&amp;A over indexed patients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532120"/>
            <a:ext cx="10652760" cy="530352"/>
          </a:xfrm>
          <a:prstGeom prst="roundRect">
            <a:avLst/>
          </a:prstGeom>
          <a:solidFill>
            <a:srgbClr val="F0FDFA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678424"/>
            <a:ext cx="1005840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Aptos"/>
              </a:rPr>
              <a:t>Most recommended next step: expose more of these ML endpoints in the React UI instead of building new backend logic first.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10528"/>
            <a:ext cx="502920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MediCluster | Patient Health Risk Segregation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412480" cy="4114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Feature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601200" cy="32004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High-impact additions ranked by demo value and implementation fit.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399032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362456"/>
            <a:ext cx="333756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Auto Cluster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636776"/>
            <a:ext cx="347472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Suggest best K before running clustering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472184"/>
            <a:ext cx="594360" cy="21031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Quick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55080" y="1399032"/>
            <a:ext cx="384048" cy="38404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5432" y="1362456"/>
            <a:ext cx="333756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Anomaly Watchlist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2" y="1636776"/>
            <a:ext cx="347472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Flag unusual patients and open their profiles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24160" y="1472184"/>
            <a:ext cx="594360" cy="21031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Quick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04872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59" y="2569464"/>
            <a:ext cx="384048" cy="38404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532888"/>
            <a:ext cx="333756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SHAP Explainability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2807208"/>
            <a:ext cx="347472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Show top drivers behind risk assignment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2642615"/>
            <a:ext cx="594360" cy="21031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Medium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404872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2569464"/>
            <a:ext cx="384048" cy="384048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2532888"/>
            <a:ext cx="333756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UMAP / t-SNE Toggle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2807208"/>
            <a:ext cx="347472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Better visual separation than PCA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2642615"/>
            <a:ext cx="594360" cy="21031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Medium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575304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59" y="3739896"/>
            <a:ext cx="384048" cy="384048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3703320"/>
            <a:ext cx="333756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Grad-CAM Imaging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3977640"/>
            <a:ext cx="347472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Heatmap where image model focused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92040" y="3813048"/>
            <a:ext cx="594360" cy="21031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Medium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575304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55080" y="3739896"/>
            <a:ext cx="384048" cy="38404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3703320"/>
            <a:ext cx="333756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Vitals Forecasting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2" y="3977640"/>
            <a:ext cx="347472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Trend risk and MEWS-based escalation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24160" y="3813048"/>
            <a:ext cx="594360" cy="21031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Medium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745736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2959" y="4910327"/>
            <a:ext cx="384048" cy="38404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3312" y="4873751"/>
            <a:ext cx="333756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Drug Interaction Checker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3312" y="5148072"/>
            <a:ext cx="347472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Warn inside medication reminders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2040" y="4983479"/>
            <a:ext cx="594360" cy="21031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Quick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745736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55080" y="4910327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85432" y="4873751"/>
            <a:ext cx="333756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Dataset Quality Report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5432" y="5148072"/>
            <a:ext cx="347472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Missing values, outliers, ignored columns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24160" y="4983479"/>
            <a:ext cx="594360" cy="21031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Quick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6510528"/>
            <a:ext cx="502920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MediCluster | Patient Health Risk Segregation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412480" cy="4114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Build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601200" cy="32004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Recommended implementation order for a polished next version.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81328"/>
            <a:ext cx="3401568" cy="3493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" y="1755648"/>
            <a:ext cx="1051560" cy="2926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176272"/>
            <a:ext cx="274320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Quick UI Wins</a:t>
            </a:r>
          </a:p>
        </p:txBody>
      </p:sp>
      <p:sp>
        <p:nvSpPr>
          <p:cNvPr id="8" name="Oval 7"/>
          <p:cNvSpPr/>
          <p:nvPr/>
        </p:nvSpPr>
        <p:spPr>
          <a:xfrm>
            <a:off x="1042416" y="2871215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788920"/>
            <a:ext cx="25786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Recommend K button</a:t>
            </a:r>
          </a:p>
        </p:txBody>
      </p:sp>
      <p:sp>
        <p:nvSpPr>
          <p:cNvPr id="10" name="Oval 9"/>
          <p:cNvSpPr/>
          <p:nvPr/>
        </p:nvSpPr>
        <p:spPr>
          <a:xfrm>
            <a:off x="1042416" y="3255263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172968"/>
            <a:ext cx="25786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Dataset quality report</a:t>
            </a:r>
          </a:p>
        </p:txBody>
      </p:sp>
      <p:sp>
        <p:nvSpPr>
          <p:cNvPr id="12" name="Oval 11"/>
          <p:cNvSpPr/>
          <p:nvPr/>
        </p:nvSpPr>
        <p:spPr>
          <a:xfrm>
            <a:off x="1042416" y="3639311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557015"/>
            <a:ext cx="25786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Drug interaction warning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" y="4315968"/>
            <a:ext cx="2880360" cy="3840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" y="4416552"/>
            <a:ext cx="2468880" cy="146304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Estimated effort: 1-2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35424" y="1481328"/>
            <a:ext cx="3401568" cy="3493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91456" y="1755648"/>
            <a:ext cx="1051560" cy="29260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2176272"/>
            <a:ext cx="274320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Risk Intelligence</a:t>
            </a:r>
          </a:p>
        </p:txBody>
      </p:sp>
      <p:sp>
        <p:nvSpPr>
          <p:cNvPr id="19" name="Oval 18"/>
          <p:cNvSpPr/>
          <p:nvPr/>
        </p:nvSpPr>
        <p:spPr>
          <a:xfrm>
            <a:off x="4864608" y="2871215"/>
            <a:ext cx="73152" cy="731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2788920"/>
            <a:ext cx="25786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Anomaly watchlist</a:t>
            </a:r>
          </a:p>
        </p:txBody>
      </p:sp>
      <p:sp>
        <p:nvSpPr>
          <p:cNvPr id="21" name="Oval 20"/>
          <p:cNvSpPr/>
          <p:nvPr/>
        </p:nvSpPr>
        <p:spPr>
          <a:xfrm>
            <a:off x="4864608" y="3255263"/>
            <a:ext cx="73152" cy="731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172968"/>
            <a:ext cx="25786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SHAP patient explanations</a:t>
            </a:r>
          </a:p>
        </p:txBody>
      </p:sp>
      <p:sp>
        <p:nvSpPr>
          <p:cNvPr id="23" name="Oval 22"/>
          <p:cNvSpPr/>
          <p:nvPr/>
        </p:nvSpPr>
        <p:spPr>
          <a:xfrm>
            <a:off x="4864608" y="3639311"/>
            <a:ext cx="73152" cy="731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3557015"/>
            <a:ext cx="25786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UMAP/t-SNE scatter toggle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91456" y="4315968"/>
            <a:ext cx="2880360" cy="3840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74336" y="4416552"/>
            <a:ext cx="2468880" cy="146304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Estimated effort: 2-4 days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57615" y="1481328"/>
            <a:ext cx="3401568" cy="3493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13647" y="1755648"/>
            <a:ext cx="1051560" cy="292608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Phase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1936" y="2176272"/>
            <a:ext cx="2743200" cy="2743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Clinical Depth</a:t>
            </a:r>
          </a:p>
        </p:txBody>
      </p:sp>
      <p:sp>
        <p:nvSpPr>
          <p:cNvPr id="30" name="Oval 29"/>
          <p:cNvSpPr/>
          <p:nvPr/>
        </p:nvSpPr>
        <p:spPr>
          <a:xfrm>
            <a:off x="8686799" y="2871215"/>
            <a:ext cx="73152" cy="73152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51391" y="2788920"/>
            <a:ext cx="25786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Grad-CAM heatmaps</a:t>
            </a:r>
          </a:p>
        </p:txBody>
      </p:sp>
      <p:sp>
        <p:nvSpPr>
          <p:cNvPr id="32" name="Oval 31"/>
          <p:cNvSpPr/>
          <p:nvPr/>
        </p:nvSpPr>
        <p:spPr>
          <a:xfrm>
            <a:off x="8686799" y="3255263"/>
            <a:ext cx="73152" cy="73152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51391" y="3172968"/>
            <a:ext cx="25786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Vitals forecasting</a:t>
            </a:r>
          </a:p>
        </p:txBody>
      </p:sp>
      <p:sp>
        <p:nvSpPr>
          <p:cNvPr id="34" name="Oval 33"/>
          <p:cNvSpPr/>
          <p:nvPr/>
        </p:nvSpPr>
        <p:spPr>
          <a:xfrm>
            <a:off x="8686799" y="3639311"/>
            <a:ext cx="73152" cy="73152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51391" y="3557015"/>
            <a:ext cx="2578608" cy="228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Care plan generator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13647" y="4315968"/>
            <a:ext cx="2880360" cy="3840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96528" y="4416552"/>
            <a:ext cx="2468880" cy="146304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Estimated effort: 3-5 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510528"/>
            <a:ext cx="502920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MediCluster | Patient Health Risk Segregation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412480" cy="4114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Feature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601200" cy="32004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The five strongest additions for a hackathon demo.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234440"/>
            <a:ext cx="1051560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362456"/>
            <a:ext cx="347472" cy="34747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362456"/>
            <a:ext cx="12344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Auto-K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362456"/>
            <a:ext cx="781812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Uses /optimal-k to recommend cluster count and improves first-run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130552"/>
            <a:ext cx="1051560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258568"/>
            <a:ext cx="347472" cy="34747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2258568"/>
            <a:ext cx="12344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Anomalies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258568"/>
            <a:ext cx="781812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Uses Isolation Forest to create a watchlist of patients that do not fit cohort patterns.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026664"/>
            <a:ext cx="1051560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3154680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3154680"/>
            <a:ext cx="12344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SHAP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154680"/>
            <a:ext cx="781812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Explains risk drivers at patient and cohort level, increasing trust.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922776"/>
            <a:ext cx="1051560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4050791"/>
            <a:ext cx="347472" cy="34747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050791"/>
            <a:ext cx="12344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Grad-CAM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050791"/>
            <a:ext cx="781812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Adds visual evidence for imaging findings with heatmap overlays.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818888"/>
            <a:ext cx="1051560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4946903"/>
            <a:ext cx="347472" cy="347472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6192" y="4946903"/>
            <a:ext cx="12344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Interactions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946903"/>
            <a:ext cx="781812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Checks medications while reminders are created and flags unsafe combinations.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10528"/>
            <a:ext cx="502920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MediCluster | Patient Health Risk Segregation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412480" cy="4114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9601200" cy="32004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What the improved version demonstrates clearly.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01752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10972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581912"/>
            <a:ext cx="2651760" cy="310896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 Display"/>
              </a:rPr>
              <a:t>Faster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011680"/>
            <a:ext cx="2651760" cy="29260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Risk screening from raw patient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17320"/>
            <a:ext cx="301752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417320"/>
            <a:ext cx="73152" cy="10972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1581912"/>
            <a:ext cx="2651760" cy="310896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 Display"/>
              </a:rPr>
              <a:t>Clearer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2011680"/>
            <a:ext cx="2651760" cy="29260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Reason codes and visual explanations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17320"/>
            <a:ext cx="301752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417320"/>
            <a:ext cx="73152" cy="10972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581912"/>
            <a:ext cx="2651760" cy="310896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 Display"/>
              </a:rPr>
              <a:t>Safer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011680"/>
            <a:ext cx="2651760" cy="29260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Medication and deterioration warnings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246120"/>
            <a:ext cx="105156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529584"/>
            <a:ext cx="9875520" cy="29260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Demo narrative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977639"/>
            <a:ext cx="9784080" cy="438912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Upload patient data, cluster into risk tiers, inspect high-risk patients, explain why they are high risk, review imaging and medication risks, then escalate through triage or dispatch workflows.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10528"/>
            <a:ext cx="502920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MediCluster | Patient Health Risk Segregation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3474720" cy="310896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050" b="1">
                <a:solidFill>
                  <a:srgbClr val="14B8A6"/>
                </a:solidFill>
                <a:latin typeface="Aptos"/>
              </a:rPr>
              <a:t>NEXT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7223760" cy="6583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From risk segregation to clinical 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6400800" cy="438912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MediCluster already has the backend intelligence. The next step is a polished, explainable UI that turns those signals into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730752"/>
            <a:ext cx="2880360" cy="68580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941063"/>
            <a:ext cx="242316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Build Auto-K + Anomalies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3730752"/>
            <a:ext cx="2880360" cy="68580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7952" y="3941063"/>
            <a:ext cx="242316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Add SHAP and Grad-CAM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5472" y="3730752"/>
            <a:ext cx="2880360" cy="68580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15783" y="3941063"/>
            <a:ext cx="2423160" cy="201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Finish care plan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502920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MediCluster | Patient Health Risk Segregation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 algn="r"/>
            <a:r>
              <a:rPr sz="850" b="0">
                <a:solidFill>
                  <a:srgbClr val="CBD5E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MediCluster Clean Feature Roadmap</dc:title>
  <dc:subject>Patient Health Risk Segregation presentation</dc:subject>
  <dc:creator>Codex</dc:creator>
  <cp:keywords/>
  <dc:description>Generated from local project review.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