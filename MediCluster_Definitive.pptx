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91695" cy="2651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60520"/>
            <a:ext cx="12191695" cy="457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362895" cy="1371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  <a:latin typeface="Calibri"/>
              </a:rPr>
              <a:t>MediCluster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06040"/>
            <a:ext cx="10362895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400" b="0" i="0">
                <a:solidFill>
                  <a:srgbClr val="EEF2FF"/>
                </a:solidFill>
                <a:latin typeface="Calibri"/>
              </a:rPr>
              <a:t>Patient Health Risk Segregation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46120"/>
            <a:ext cx="10362895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300" b="0" i="1">
                <a:solidFill>
                  <a:srgbClr val="C7D2FE"/>
                </a:solidFill>
                <a:latin typeface="Calibri"/>
              </a:rPr>
              <a:t>AI-Powered Clinical Decision Support  ·  Clustering · NLP · Imaging · Forecasting · Dispatch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526280"/>
            <a:ext cx="2468880" cy="1417320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892040"/>
            <a:ext cx="246888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ML Clustering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4526280"/>
            <a:ext cx="2468880" cy="1417320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4892040"/>
            <a:ext cx="246888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LungLens Imaging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4526280"/>
            <a:ext cx="2468880" cy="1417320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4892040"/>
            <a:ext cx="246888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CliniQ NLP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4526280"/>
            <a:ext cx="2468880" cy="1417320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4892040"/>
            <a:ext cx="246888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ARIA Dispatch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6172200"/>
            <a:ext cx="12191695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0" i="1">
                <a:solidFill>
                  <a:srgbClr val="C7D2FE"/>
                </a:solidFill>
                <a:latin typeface="Calibri"/>
              </a:rPr>
              <a:t>Comprehensive Technical Overview  ·  August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6492240"/>
            <a:ext cx="12191695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1">
                <a:solidFill>
                  <a:srgbClr val="A5B4FC"/>
                </a:solidFill>
                <a:latin typeface="Calibri"/>
              </a:rPr>
              <a:t>CtrlAltElite  ·  M S Engineering College  ·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05156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EEF2FF"/>
                </a:solidFill>
                <a:latin typeface="Calibri"/>
              </a:rPr>
              <a:t>What this deck covers — 30 slides across 9 sections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MediCluster  ·  Patient Health Risk Segregation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3749039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3749039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53312"/>
            <a:ext cx="5486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371600"/>
            <a:ext cx="28346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Foundation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920239"/>
            <a:ext cx="347472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• Problem &amp; Goals
• Architecture
• Tech Stack
• Data Flow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1280160"/>
            <a:ext cx="3749039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280160"/>
            <a:ext cx="3749039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3128" y="1353312"/>
            <a:ext cx="5486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93208" y="1371600"/>
            <a:ext cx="28346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ML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1920239"/>
            <a:ext cx="347472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• Clustering Algos
• Risk Scoring
• SHAP
• Anomalies
• AutoML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66176" y="1280160"/>
            <a:ext cx="3749039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66176" y="1280160"/>
            <a:ext cx="3749039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03336" y="1353312"/>
            <a:ext cx="5486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416" y="1371600"/>
            <a:ext cx="28346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Clinical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0768" y="1920239"/>
            <a:ext cx="347472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• NLP Notes
• Vitals Forecast
• MEWS
• Imaging AI
• Drug Check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886200"/>
            <a:ext cx="3749039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886200"/>
            <a:ext cx="3749039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959352"/>
            <a:ext cx="5486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3977639"/>
            <a:ext cx="28346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Frontend &amp; 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4526280"/>
            <a:ext cx="347472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• 13 Pages
• API Reference
• Real-time UX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15968" y="3886200"/>
            <a:ext cx="3749039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15968" y="3886200"/>
            <a:ext cx="3749039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53128" y="3959352"/>
            <a:ext cx="5486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93208" y="3977639"/>
            <a:ext cx="28346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Deployment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4526280"/>
            <a:ext cx="347472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• Docker
• Performance
• Security
• Testing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66176" y="3886200"/>
            <a:ext cx="3749039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66176" y="3886200"/>
            <a:ext cx="3749039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03336" y="3959352"/>
            <a:ext cx="5486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43416" y="3977639"/>
            <a:ext cx="28346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Roadmap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30768" y="4526280"/>
            <a:ext cx="347472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• Phase 1-3 Plans
• Limitations
• Glossary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05156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EEF2FF"/>
                </a:solidFill>
                <a:latin typeface="Calibri"/>
              </a:rPr>
              <a:t>Why patient risk segregation needs a new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MediCluster  ·  Patient Health Risk Segregation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1143000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Modern healthcare is overwhelmed. Emergency departments face hundreds of patients daily with limited staff, fragmented data, and rising acuity. MediCluster addresses five concrete failure modes.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965960"/>
            <a:ext cx="3749039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965960"/>
            <a:ext cx="3749039" cy="38404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2011679"/>
            <a:ext cx="3529583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Triage bottlenecks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2423160"/>
            <a:ext cx="3529583" cy="1600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334155"/>
                </a:solidFill>
                <a:latin typeface="Calibri"/>
              </a:rPr>
              <a:t>•  Manual assessment of hundreds of patients daily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965960"/>
            <a:ext cx="3749039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965960"/>
            <a:ext cx="3749039" cy="3840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7408" y="2011679"/>
            <a:ext cx="3529583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Missed deterioration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8" y="2423160"/>
            <a:ext cx="3529583" cy="1600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334155"/>
                </a:solidFill>
                <a:latin typeface="Calibri"/>
              </a:rPr>
              <a:t>•  Vital signs not continuously monitored between rounds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965960"/>
            <a:ext cx="3749039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965960"/>
            <a:ext cx="3749039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7" y="2011679"/>
            <a:ext cx="3529583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Unstructured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7" y="2423160"/>
            <a:ext cx="3529583" cy="1600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334155"/>
                </a:solidFill>
                <a:latin typeface="Calibri"/>
              </a:rPr>
              <a:t>•  Doctor notes locked in free text — no ICD-10 coding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297679"/>
            <a:ext cx="3749039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4297679"/>
            <a:ext cx="3749039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" y="4343399"/>
            <a:ext cx="3529583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Imaging backlogs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" y="4754879"/>
            <a:ext cx="3529583" cy="1600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334155"/>
                </a:solidFill>
                <a:latin typeface="Calibri"/>
              </a:rPr>
              <a:t>•  Radiologists overwhelmed with X-ray and CT queues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4297679"/>
            <a:ext cx="3749039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7680" y="4297679"/>
            <a:ext cx="3749039" cy="38404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07408" y="4343399"/>
            <a:ext cx="3529583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Medication errors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07408" y="4754879"/>
            <a:ext cx="3529583" cy="1600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334155"/>
                </a:solidFill>
                <a:latin typeface="Calibri"/>
              </a:rPr>
              <a:t>•  Drug interactions missed during prescription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4297679"/>
            <a:ext cx="3749039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29600" y="4297679"/>
            <a:ext cx="3749039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39327" y="4343399"/>
            <a:ext cx="3529583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No labelled 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9327" y="4754879"/>
            <a:ext cx="3529583" cy="1600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334155"/>
                </a:solidFill>
                <a:latin typeface="Calibri"/>
              </a:rPr>
              <a:t>•  Supervised risk models impossible without ground truth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Design Goals &amp; Target 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05156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EEF2FF"/>
                </a:solidFill>
                <a:latin typeface="Calibri"/>
              </a:rPr>
              <a:t>Five principles that shaped every technical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MediCluster  ·  Patient Health Risk Segregation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5486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4F46E5"/>
                </a:solidFill>
                <a:latin typeface="Calibri"/>
              </a:rPr>
              <a:t>DESIGN GOALS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097280"/>
            <a:ext cx="5486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  <a:latin typeface="Calibri"/>
              </a:rPr>
              <a:t>TARGET 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08760"/>
            <a:ext cx="5486400" cy="45720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334155"/>
                </a:solidFill>
                <a:latin typeface="Calibri"/>
              </a:rPr>
              <a:t>•  Zero labelled data required — core clustering works on raw patient vitals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34155"/>
                </a:solidFill>
                <a:latin typeface="Calibri"/>
              </a:rPr>
              <a:t>•  Graceful degradation — every ML component falls back to rule-based logic if libraries are absent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34155"/>
                </a:solidFill>
                <a:latin typeface="Calibri"/>
              </a:rPr>
              <a:t>•  Clinical interpretability — every prediction includes plain-language explanations for clinicians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34155"/>
                </a:solidFill>
                <a:latin typeface="Calibri"/>
              </a:rPr>
              <a:t>•  Real-time operation — live vital monitoring, instant NLP analysis, real-time dispatch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34155"/>
                </a:solidFill>
                <a:latin typeface="Calibri"/>
              </a:rPr>
              <a:t>•  Full observability — SHAP, MEWS, data quality flags, and confidence intervals on every output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5778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554480"/>
            <a:ext cx="137160" cy="7772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27632"/>
            <a:ext cx="54864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  <a:latin typeface="Calibri"/>
              </a:rPr>
              <a:t>Emergency Physicians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38528"/>
            <a:ext cx="54864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Real-time triage support, critical alerts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423160"/>
            <a:ext cx="55778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2423160"/>
            <a:ext cx="137160" cy="7772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496312"/>
            <a:ext cx="54864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  <a:latin typeface="Calibri"/>
              </a:rPr>
              <a:t>Ward Nurses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807208"/>
            <a:ext cx="54864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Continuous vital monitoring, MEWS early warning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291839"/>
            <a:ext cx="55778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291839"/>
            <a:ext cx="137160" cy="7772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364991"/>
            <a:ext cx="54864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  <a:latin typeface="Calibri"/>
              </a:rPr>
              <a:t>Radiologists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675887"/>
            <a:ext cx="54864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AI-assisted chest X-ray preliminary reading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160520"/>
            <a:ext cx="55778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4160520"/>
            <a:ext cx="137160" cy="7772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33672"/>
            <a:ext cx="54864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  <a:latin typeface="Calibri"/>
              </a:rPr>
              <a:t>Administrators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544568"/>
            <a:ext cx="54864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Population-level risk dashboard, workload forecast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5029200"/>
            <a:ext cx="55778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5029200"/>
            <a:ext cx="137160" cy="7772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5102352"/>
            <a:ext cx="54864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  <a:latin typeface="Calibri"/>
              </a:rPr>
              <a:t>Dispatchers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413248"/>
            <a:ext cx="54864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GPS-integrated real-time ambulance coordination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05156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EEF2FF"/>
                </a:solidFill>
                <a:latin typeface="Calibri"/>
              </a:rPr>
              <a:t>Three-tier microservice with persistent 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MediCluster  ·  Patient Health Risk Segregation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11430000" cy="1143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301752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Client Tier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280160"/>
            <a:ext cx="109728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0" i="1">
                <a:solidFill>
                  <a:srgbClr val="EEF2FF"/>
                </a:solidFill>
                <a:latin typeface="Calibri"/>
              </a:rPr>
              <a:t>:5173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110642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E0E7FF"/>
                </a:solidFill>
                <a:latin typeface="Calibri"/>
              </a:rPr>
              <a:t>React 18  ·  Vite SPA  ·  TailwindCSS  ·  Recharts  ·  D3.js  ·  Leaflet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93392"/>
            <a:ext cx="110642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1">
                <a:solidFill>
                  <a:srgbClr val="C7D2FE"/>
                </a:solidFill>
                <a:latin typeface="Calibri"/>
              </a:rPr>
              <a:t>13 pages: Dashboard, Clinical AI, Imaging, ML Tools, Patients, Predict, Dispatch, Hospitals, Reminders, MCI Board, Ask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304288"/>
            <a:ext cx="10972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64748B"/>
                </a:solidFill>
                <a:latin typeface="Calibri"/>
              </a:rPr>
              <a:t>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514600"/>
            <a:ext cx="11430000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606040"/>
            <a:ext cx="301752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Backend Tier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606040"/>
            <a:ext cx="109728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0" i="1">
                <a:solidFill>
                  <a:srgbClr val="EEF2FF"/>
                </a:solidFill>
                <a:latin typeface="Calibri"/>
              </a:rPr>
              <a:t>:5000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017520"/>
            <a:ext cx="110642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E0E7FF"/>
                </a:solidFill>
                <a:latin typeface="Calibri"/>
              </a:rPr>
              <a:t>Node.js  ·  Express  ·  Mongoose  ·  Multer  ·  Axios  ·  JWT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319272"/>
            <a:ext cx="110642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1">
                <a:solidFill>
                  <a:srgbClr val="C7D2FE"/>
                </a:solidFill>
                <a:latin typeface="Calibri"/>
              </a:rPr>
              <a:t>/api/data  ·  /api/cluster  ·  /api/ai  ·  /api/dispatch  ·  /api/triage  ·  /api/media  ·  /api/reminders  ·  /api/ml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3630168"/>
            <a:ext cx="10972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64748B"/>
                </a:solidFill>
                <a:latin typeface="Calibri"/>
              </a:rPr>
              <a:t>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840480"/>
            <a:ext cx="11430000" cy="1143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931920"/>
            <a:ext cx="301752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ML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3931920"/>
            <a:ext cx="109728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0" i="1">
                <a:solidFill>
                  <a:srgbClr val="EEF2FF"/>
                </a:solidFill>
                <a:latin typeface="Calibri"/>
              </a:rPr>
              <a:t>:5001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43400"/>
            <a:ext cx="110642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E0E7FF"/>
                </a:solidFill>
                <a:latin typeface="Calibri"/>
              </a:rPr>
              <a:t>Python 3.11  ·  Flask  ·  scikit-learn  ·  PyTorch  ·  TorchXRayVision  ·  SHAP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645152"/>
            <a:ext cx="110642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1">
                <a:solidFill>
                  <a:srgbClr val="C7D2FE"/>
                </a:solidFill>
                <a:latin typeface="Calibri"/>
              </a:rPr>
              <a:t>/cluster  ·  /risk-profile  ·  /analyze-notes  ·  /forecast-vitals  ·  /analyze-image  ·  /ask  ·  /explain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4956048"/>
            <a:ext cx="10972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64748B"/>
                </a:solidFill>
                <a:latin typeface="Calibri"/>
              </a:rPr>
              <a:t>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166359"/>
            <a:ext cx="11430000" cy="1143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257799"/>
            <a:ext cx="301752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Storage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5257799"/>
            <a:ext cx="109728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0" i="1">
                <a:solidFill>
                  <a:srgbClr val="EEF2FF"/>
                </a:solidFill>
                <a:latin typeface="Calibri"/>
              </a:rPr>
              <a:t>:27017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669279"/>
            <a:ext cx="110642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E0E7FF"/>
                </a:solidFill>
                <a:latin typeface="Calibri"/>
              </a:rPr>
              <a:t>MongoDB 7  ·  GridFS for images &amp; DICOM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971031"/>
            <a:ext cx="110642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1">
                <a:solidFill>
                  <a:srgbClr val="C7D2FE"/>
                </a:solidFill>
                <a:latin typeface="Calibri"/>
              </a:rPr>
              <a:t>datasets · clusterresults · patients · reminders · dispatches · triages · media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05156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EEF2FF"/>
                </a:solidFill>
                <a:latin typeface="Calibri"/>
              </a:rPr>
              <a:t>Open-source core, cloud AI optional, no vendor lock-in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MediCluster  ·  Patient Health Risk Segregation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2194560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2194560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234440"/>
            <a:ext cx="1975104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645920"/>
            <a:ext cx="1975104" cy="43891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React 18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Vite 5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TailwindCSS 3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Recharts + D3.js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Leaflet.js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jsPDF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Axios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97479" y="1188720"/>
            <a:ext cx="2194560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97479" y="1188720"/>
            <a:ext cx="219456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07208" y="1234440"/>
            <a:ext cx="1975104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07208" y="1645920"/>
            <a:ext cx="1975104" cy="43891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Node.js 25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Express 4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Mongoose 8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Multer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Anthropic SDK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JWT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CORS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1188720"/>
            <a:ext cx="2194560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0" y="1188720"/>
            <a:ext cx="2194560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38928" y="1234440"/>
            <a:ext cx="1975104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ML /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8928" y="1645920"/>
            <a:ext cx="1975104" cy="43891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Python 3.11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Flask 3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scikit-learn 1.4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SciPy 1.12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PyTorch 2.2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TorchXRayVision 1.0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ONNX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60919" y="1188720"/>
            <a:ext cx="2194560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60919" y="1188720"/>
            <a:ext cx="2194560" cy="38404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70647" y="1234440"/>
            <a:ext cx="1975104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NLP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70647" y="1645920"/>
            <a:ext cx="1975104" cy="43891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spaCy 3.7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scispaCy 0.5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HuggingFace 4.40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BioBERT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Regex NER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Spell correction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92640" y="1188720"/>
            <a:ext cx="2194560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92640" y="1188720"/>
            <a:ext cx="2194560" cy="3840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02367" y="1234440"/>
            <a:ext cx="1975104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Data + 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02367" y="1645920"/>
            <a:ext cx="1975104" cy="43891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MongoDB 7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GridFS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SHAP 0.45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UMAP-learn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Prophet 1.1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FAISS 1.8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pydicom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Data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05156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EEF2FF"/>
                </a:solidFill>
                <a:latin typeface="Calibri"/>
              </a:rPr>
              <a:t>End-to-end path from CSV upload to clinician insight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MediCluster  ·  Patient Health Risk Segregation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5167" y="2468880"/>
            <a:ext cx="1280160" cy="137160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167" y="2514600"/>
            <a:ext cx="12801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EEF2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167" y="2788920"/>
            <a:ext cx="12801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Upload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887" y="3200400"/>
            <a:ext cx="1188719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00" b="0" i="1">
                <a:solidFill>
                  <a:srgbClr val="EEF2FF"/>
                </a:solidFill>
                <a:latin typeface="Calibri"/>
              </a:rPr>
              <a:t>CSV / JSON / sample 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39899" y="2926080"/>
            <a:ext cx="914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64748B"/>
                </a:solidFill>
                <a:latin typeface="Calibri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26767" y="2468880"/>
            <a:ext cx="1280160" cy="13716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26767" y="2514600"/>
            <a:ext cx="12801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EEF2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26767" y="2788920"/>
            <a:ext cx="12801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Validate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72487" y="3200400"/>
            <a:ext cx="1188719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00" b="0" i="1">
                <a:solidFill>
                  <a:srgbClr val="EEF2FF"/>
                </a:solidFill>
                <a:latin typeface="Calibri"/>
              </a:rPr>
              <a:t>Numeric columns, missing values, IQR outliers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1499" y="2926080"/>
            <a:ext cx="914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64748B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98367" y="2468880"/>
            <a:ext cx="1280160" cy="13716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98367" y="2514600"/>
            <a:ext cx="12801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EEF2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98367" y="2788920"/>
            <a:ext cx="12801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Preprocess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44087" y="3200400"/>
            <a:ext cx="1188719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00" b="0" i="1">
                <a:solidFill>
                  <a:srgbClr val="EEF2FF"/>
                </a:solidFill>
                <a:latin typeface="Calibri"/>
              </a:rPr>
              <a:t>Median impute → StandardScaler → PCA (2D)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83099" y="2926080"/>
            <a:ext cx="914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64748B"/>
                </a:solidFill>
                <a:latin typeface="Calibri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69967" y="2468880"/>
            <a:ext cx="1280160" cy="1371600"/>
          </a:xfrm>
          <a:prstGeom prst="roundRect">
            <a:avLst/>
          </a:prstGeom>
          <a:solidFill>
            <a:srgbClr val="03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69967" y="2514600"/>
            <a:ext cx="12801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EEF2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69967" y="2788920"/>
            <a:ext cx="12801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Cluster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15687" y="3200400"/>
            <a:ext cx="1188719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00" b="0" i="1">
                <a:solidFill>
                  <a:srgbClr val="EEF2FF"/>
                </a:solidFill>
                <a:latin typeface="Calibri"/>
              </a:rPr>
              <a:t>K-Means · DBSCAN · Hierarchical · GMM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54699" y="2926080"/>
            <a:ext cx="914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64748B"/>
                </a:solidFill>
                <a:latin typeface="Calibri"/>
              </a:rPr>
              <a:t>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41567" y="2468880"/>
            <a:ext cx="1280160" cy="13716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41567" y="2514600"/>
            <a:ext cx="12801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EEF2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41567" y="2788920"/>
            <a:ext cx="12801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Score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87287" y="3200400"/>
            <a:ext cx="1188719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00" b="0" i="1">
                <a:solidFill>
                  <a:srgbClr val="EEF2FF"/>
                </a:solidFill>
                <a:latin typeface="Calibri"/>
              </a:rPr>
              <a:t>Composite clinical risk 0-100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26299" y="2926080"/>
            <a:ext cx="914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64748B"/>
                </a:solidFill>
                <a:latin typeface="Calibri"/>
              </a:rPr>
              <a:t>▶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13167" y="2468880"/>
            <a:ext cx="1280160" cy="137160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13167" y="2514600"/>
            <a:ext cx="12801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EEF2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13167" y="2788920"/>
            <a:ext cx="12801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Explain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58887" y="3200400"/>
            <a:ext cx="1188719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00" b="0" i="1">
                <a:solidFill>
                  <a:srgbClr val="EEF2FF"/>
                </a:solidFill>
                <a:latin typeface="Calibri"/>
              </a:rPr>
              <a:t>SHAP, anomalies, disease risk radar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97899" y="2926080"/>
            <a:ext cx="914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64748B"/>
                </a:solidFill>
                <a:latin typeface="Calibri"/>
              </a:rPr>
              <a:t>▶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884767" y="2468880"/>
            <a:ext cx="1280160" cy="137160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84767" y="2514600"/>
            <a:ext cx="12801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EEF2FF"/>
                </a:solidFill>
                <a:latin typeface="Calibri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84767" y="2788920"/>
            <a:ext cx="12801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Store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30487" y="3200400"/>
            <a:ext cx="1188719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00" b="0" i="1">
                <a:solidFill>
                  <a:srgbClr val="EEF2FF"/>
                </a:solidFill>
                <a:latin typeface="Calibri"/>
              </a:rPr>
              <a:t>MongoDB: clusterresults, patients, media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69499" y="2926080"/>
            <a:ext cx="914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64748B"/>
                </a:solidFill>
                <a:latin typeface="Calibri"/>
              </a:rPr>
              <a:t>▶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256367" y="2468880"/>
            <a:ext cx="1280160" cy="13716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56367" y="2514600"/>
            <a:ext cx="12801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EEF2FF"/>
                </a:solidFill>
                <a:latin typeface="Calibri"/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56367" y="2788920"/>
            <a:ext cx="12801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Visualize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02087" y="3200400"/>
            <a:ext cx="1188719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00" b="0" i="1">
                <a:solidFill>
                  <a:srgbClr val="EEF2FF"/>
                </a:solidFill>
                <a:latin typeface="Calibri"/>
              </a:rPr>
              <a:t>Dashboard, scatter, table, profile, PDF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297680"/>
            <a:ext cx="114300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4389120"/>
            <a:ext cx="36576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  <a:latin typeface="Calibri"/>
              </a:rPr>
              <a:t>OUTPUTS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4800600"/>
            <a:ext cx="21945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  <a:latin typeface="Calibri"/>
              </a:rPr>
              <a:t>Risk Tier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5138928"/>
            <a:ext cx="219456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Low / Moderate / High / Critical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88920" y="4800600"/>
            <a:ext cx="21945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Calibri"/>
              </a:rPr>
              <a:t>Cluster Profile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88920" y="5138928"/>
            <a:ext cx="219456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Centroid features + size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74920" y="4800600"/>
            <a:ext cx="21945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  <a:latin typeface="Calibri"/>
              </a:rPr>
              <a:t>SHAP Drivers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74920" y="5138928"/>
            <a:ext cx="219456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Top-3 features per patient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60920" y="4800600"/>
            <a:ext cx="21945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Calibri"/>
              </a:rPr>
              <a:t>Anomaly Flags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60920" y="5138928"/>
            <a:ext cx="219456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Isolation Forest outliers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46920" y="4800600"/>
            <a:ext cx="21945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Calibri"/>
              </a:rPr>
              <a:t>Care Plan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46920" y="5138928"/>
            <a:ext cx="219456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Disease-specific actions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6126480"/>
            <a:ext cx="114300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  <a:latin typeface="Calibri"/>
              </a:rPr>
              <a:t>Async anomaly detection runs in background after clustering — primary response never blocks on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Preprocessing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05156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EEF2FF"/>
                </a:solidFill>
                <a:latin typeface="Calibri"/>
              </a:rPr>
              <a:t>Every patient row passes through 7 deterministic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MediCluster  ·  Patient Health Risk Segregation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27432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2743200" cy="5486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371600"/>
            <a:ext cx="457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417319"/>
            <a:ext cx="21031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Patient ID extraction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965960"/>
            <a:ext cx="2514600" cy="1234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Separate patient_id and sequential id columns from features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280160"/>
            <a:ext cx="27432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1280160"/>
            <a:ext cx="2743200" cy="5486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01568" y="1371600"/>
            <a:ext cx="457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1417319"/>
            <a:ext cx="21031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Numeric column select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1965960"/>
            <a:ext cx="2514600" cy="1234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Keep only numeric dtypes; record dropped non-numeric in warnings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280160"/>
            <a:ext cx="27432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280160"/>
            <a:ext cx="2743200" cy="5486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371600"/>
            <a:ext cx="457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1417319"/>
            <a:ext cx="21031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Median imputation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1965960"/>
            <a:ext cx="2514600" cy="1234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Fill missing values with column median — robust to clinical outliers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0" y="1280160"/>
            <a:ext cx="27432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0" y="1280160"/>
            <a:ext cx="2743200" cy="5486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53728" y="1371600"/>
            <a:ext cx="457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38360" y="1417319"/>
            <a:ext cx="21031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IQR outlier removal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1965960"/>
            <a:ext cx="2514600" cy="1234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Drop rows outside [Q1 - 1.5·IQR, Q3 + 1.5·IQR] per feature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566160"/>
            <a:ext cx="27432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3566160"/>
            <a:ext cx="2743200" cy="5486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" y="3657600"/>
            <a:ext cx="457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3703320"/>
            <a:ext cx="21031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Standard scaling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251960"/>
            <a:ext cx="2514600" cy="1234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StandardScaler: zero mean, unit variance for distance-based algos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91840" y="3566160"/>
            <a:ext cx="27432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91840" y="3566160"/>
            <a:ext cx="2743200" cy="5486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01568" y="3657600"/>
            <a:ext cx="457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86200" y="3703320"/>
            <a:ext cx="21031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PCA reduction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29000" y="4251960"/>
            <a:ext cx="2514600" cy="1234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Reduce to 2 components for scatter visualization only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3566160"/>
            <a:ext cx="27432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17920" y="3566160"/>
            <a:ext cx="2743200" cy="5486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27648" y="3657600"/>
            <a:ext cx="457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12280" y="3703320"/>
            <a:ext cx="21031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Report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80" y="4251960"/>
            <a:ext cx="2514600" cy="1234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Return rows_before, rows_after, dropped_rows, feature_names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5120640"/>
            <a:ext cx="11430000" cy="12801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5212080"/>
            <a:ext cx="3657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WHY MEDIAN, NOT MEAN?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5486400"/>
            <a:ext cx="1106424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EEF2FF"/>
                </a:solidFill>
                <a:latin typeface="Calibri"/>
              </a:rPr>
              <a:t>Clinical data has extreme outliers (e.g. glucose 9999). A single erroneous value would distort mean imputation for the entire cohort. Median is robust by definition. IQR outlier removal flags suspicious rows for clinical review rather than silently keeping them.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Four Clustering Algorithms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05156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EEF2FF"/>
                </a:solidFill>
                <a:latin typeface="Calibri"/>
              </a:rPr>
              <a:t>From /cluster endpoint — pick one or run all four in parallel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MediCluster  ·  Patient Health Risk Segregation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274320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2743200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234440"/>
            <a:ext cx="2523744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K-Means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645920"/>
            <a:ext cx="2523744" cy="2468879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k-means++ init, 300 max_iter, 10 n_init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Spherical clusters of similar size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Use /optimal-k first for K selection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Output: labels, centroids, inertia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188720"/>
            <a:ext cx="274320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188720"/>
            <a:ext cx="274320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1568" y="1234440"/>
            <a:ext cx="2523744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DBSCAN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1568" y="1645920"/>
            <a:ext cx="2523744" cy="2468879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eps neighborhood, min_samples density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Arbitrary shape clusters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Auto-detects noise as cluster -1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Noise patients get risk_tier = 'Noise'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188720"/>
            <a:ext cx="274320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188720"/>
            <a:ext cx="2743200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7648" y="1234440"/>
            <a:ext cx="2523744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Hierarchical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1645920"/>
            <a:ext cx="2523744" cy="2468879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Ward / complete / average / single linkage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Builds dendrogram from linkage_matrix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Post-hoc K via cut-height slider in UI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Best for small cohorts and exploration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1188720"/>
            <a:ext cx="274320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0" y="1188720"/>
            <a:ext cx="2743200" cy="384048"/>
          </a:xfrm>
          <a:prstGeom prst="rect">
            <a:avLst/>
          </a:prstGeom>
          <a:solidFill>
            <a:srgbClr val="03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53728" y="1234440"/>
            <a:ext cx="2523744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GMM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3728" y="1645920"/>
            <a:ext cx="2523744" cy="2468879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Soft assignment via posterior probability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Full / tied / diag / spherical covariance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Returns NxK probability matrix per patient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Best for overlapping elliptical clusters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297680"/>
            <a:ext cx="114300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389120"/>
            <a:ext cx="109728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4F46E5"/>
                </a:solidFill>
                <a:latin typeface="Calibri"/>
              </a:rPr>
              <a:t>Algorithm Comparison Mode (algorithm: 'all')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709160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Run all 4 in parallel, return side-by-side metrics for radar chart in the Comparison Panel.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029200"/>
            <a:ext cx="3566160" cy="1371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120640"/>
            <a:ext cx="33832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  <a:latin typeface="Calibri"/>
              </a:rPr>
              <a:t>Silhouette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440680"/>
            <a:ext cx="33832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1">
                <a:solidFill>
                  <a:srgbClr val="D97706"/>
                </a:solidFill>
                <a:latin typeface="Calibri"/>
              </a:rPr>
              <a:t>-1 to 1, higher = better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338328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Compactness vs separation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97679" y="5029200"/>
            <a:ext cx="3566160" cy="1371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34840" y="5120640"/>
            <a:ext cx="33832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  <a:latin typeface="Calibri"/>
              </a:rPr>
              <a:t>Davies-Bouldin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5440680"/>
            <a:ext cx="33832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1">
                <a:solidFill>
                  <a:srgbClr val="D97706"/>
                </a:solidFill>
                <a:latin typeface="Calibri"/>
              </a:rPr>
              <a:t>Lower = better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34840" y="5742432"/>
            <a:ext cx="338328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Avg similarity of cluster to its nearest neighbor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19" y="5029200"/>
            <a:ext cx="3566160" cy="1371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83879" y="5120640"/>
            <a:ext cx="33832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  <a:latin typeface="Calibri"/>
              </a:rPr>
              <a:t>Calinski-Harabasz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83879" y="5440680"/>
            <a:ext cx="33832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1">
                <a:solidFill>
                  <a:srgbClr val="D97706"/>
                </a:solidFill>
                <a:latin typeface="Calibri"/>
              </a:rPr>
              <a:t>Higher = better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83879" y="5742432"/>
            <a:ext cx="338328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Variance ratio (between/within)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Risk Scoring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05156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EEF2FF"/>
                </a:solidFill>
                <a:latin typeface="Calibri"/>
              </a:rPr>
              <a:t>4-tier clinical risk from composite score, no labels required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MediCluster  ·  Patient Health Risk Segregation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114300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4F46E5"/>
                </a:solidFill>
                <a:latin typeface="Calibri"/>
              </a:rPr>
              <a:t>RISK TIER THRESHOLDS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1393902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545336"/>
            <a:ext cx="1302462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Score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59662" y="1508760"/>
            <a:ext cx="1951463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05382" y="1545336"/>
            <a:ext cx="1860023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Tier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11125" y="1508760"/>
            <a:ext cx="2509024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56845" y="1545336"/>
            <a:ext cx="2417584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Triage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20150" y="1508760"/>
            <a:ext cx="5575609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5870" y="1545336"/>
            <a:ext cx="548416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1874519"/>
            <a:ext cx="114300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1911095"/>
            <a:ext cx="1302462" cy="3383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0-24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05382" y="1911095"/>
            <a:ext cx="1860023" cy="3383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56845" y="1911095"/>
            <a:ext cx="2417584" cy="3383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P4 - Routine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5870" y="1911095"/>
            <a:ext cx="5484169" cy="3383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Standard monitoring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286000"/>
            <a:ext cx="11430000" cy="4114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2322576"/>
            <a:ext cx="1302462" cy="3383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25-49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05382" y="2322576"/>
            <a:ext cx="1860023" cy="3383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Moderate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56845" y="2322576"/>
            <a:ext cx="2417584" cy="3383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P3 - Soon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5870" y="2322576"/>
            <a:ext cx="5484169" cy="3383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Follow-up review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97480"/>
            <a:ext cx="114300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2734056"/>
            <a:ext cx="1302462" cy="3383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50-74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05382" y="2734056"/>
            <a:ext cx="1860023" cy="3383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High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56845" y="2734056"/>
            <a:ext cx="2417584" cy="3383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P2 - Urgent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5870" y="2734056"/>
            <a:ext cx="5484169" cy="3383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Same-day doctor review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108960"/>
            <a:ext cx="11430000" cy="4114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3145536"/>
            <a:ext cx="1302462" cy="3383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75-100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05382" y="3145536"/>
            <a:ext cx="1860023" cy="3383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Critical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56845" y="3145536"/>
            <a:ext cx="2417584" cy="3383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P1 - Immediate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5870" y="3145536"/>
            <a:ext cx="5484169" cy="3383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Emergency response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3703320"/>
            <a:ext cx="114300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SIX DISEASE-SPECIFIC RISK SCORES (computed simultaneously)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4114800"/>
            <a:ext cx="3749039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5760" y="4114800"/>
            <a:ext cx="109728" cy="1280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4224528"/>
            <a:ext cx="33832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  <a:latin typeface="Calibri"/>
              </a:rPr>
              <a:t>Diabetes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4572000"/>
            <a:ext cx="342900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HbA1c ≥ 6.5 (+18-30), glucose &gt; 200 (+12-20), BMI ≥ 30 (+8)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297680" y="4114800"/>
            <a:ext cx="3749039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97680" y="4114800"/>
            <a:ext cx="109728" cy="1280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26280" y="4224528"/>
            <a:ext cx="33832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  <a:latin typeface="Calibri"/>
              </a:rPr>
              <a:t>Cardiac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26280" y="4572000"/>
            <a:ext cx="342900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Troponin &gt; 0.04 (+35), chest pain (+20), hypertensive BP (+15)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229600" y="4114800"/>
            <a:ext cx="3749039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229600" y="4114800"/>
            <a:ext cx="109728" cy="1280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58200" y="4224528"/>
            <a:ext cx="33832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  <a:latin typeface="Calibri"/>
              </a:rPr>
              <a:t>Kidney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58200" y="4572000"/>
            <a:ext cx="342900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Creatinine ≥ 1.5 (+14-24), eGFR &lt; 60 (+16-30), comorbidity (+8)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65760" y="5532120"/>
            <a:ext cx="3749039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65760" y="5532120"/>
            <a:ext cx="109728" cy="1280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94360" y="5641848"/>
            <a:ext cx="33832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  <a:latin typeface="Calibri"/>
              </a:rPr>
              <a:t>Respiratory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4360" y="5989320"/>
            <a:ext cx="342900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SpO2 &lt; 94 (+20-35), RR ≥ 24 (+18), COPD history (+18)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297680" y="5532120"/>
            <a:ext cx="3749039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97680" y="5532120"/>
            <a:ext cx="109728" cy="1280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26280" y="5641848"/>
            <a:ext cx="33832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  <a:latin typeface="Calibri"/>
              </a:rPr>
              <a:t>Stroke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26280" y="5989320"/>
            <a:ext cx="342900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Age ≥ 65 (+8), focal neuro symptoms (+18), HTN (+8), AFib (+16)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229600" y="5532120"/>
            <a:ext cx="3749039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229600" y="5532120"/>
            <a:ext cx="109728" cy="1280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458200" y="5641848"/>
            <a:ext cx="33832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  <a:latin typeface="Calibri"/>
              </a:rPr>
              <a:t>Sepsis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58200" y="5989320"/>
            <a:ext cx="342900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WBC abnormal (+16), lactate ≥ 2 (+16-28), SBP &lt; 100 (+14)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SHAP Explainability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05156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EEF2FF"/>
                </a:solidFill>
                <a:latin typeface="Calibri"/>
              </a:rPr>
              <a:t>Why was this patient assigned to that cluster?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MediCluster  ·  Patient Health Risk Segregation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114300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Clustering is unsupervised — no target variable for SHAP. MediCluster uses a clever proxy approach: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737360"/>
            <a:ext cx="2743200" cy="155448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874519"/>
            <a:ext cx="2743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1. Proxy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86000"/>
            <a:ext cx="2468880" cy="9601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EEF2FF"/>
                </a:solidFill>
                <a:latin typeface="Calibri"/>
              </a:rPr>
              <a:t>Train Ridge regression to predict cluster ID from features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737360"/>
            <a:ext cx="2743200" cy="155448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874519"/>
            <a:ext cx="2743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2. LinearExplainer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286000"/>
            <a:ext cx="2468880" cy="9601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EEF2FF"/>
                </a:solidFill>
                <a:latin typeface="Calibri"/>
              </a:rPr>
              <a:t>SHAP applied with feature_perturbation='interventional'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737360"/>
            <a:ext cx="2743200" cy="155448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874519"/>
            <a:ext cx="2743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3. Global importance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286000"/>
            <a:ext cx="2468880" cy="9601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EEF2FF"/>
                </a:solidFill>
                <a:latin typeface="Calibri"/>
              </a:rPr>
              <a:t>Mean |SHAP| per feature across all patients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737360"/>
            <a:ext cx="2743200" cy="155448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1874519"/>
            <a:ext cx="2743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4. Per-patient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2286000"/>
            <a:ext cx="2468880" cy="9601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EEF2FF"/>
                </a:solidFill>
                <a:latin typeface="Calibri"/>
              </a:rPr>
              <a:t>Top-3 drivers with direction (↑ or ↓ risk)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566160"/>
            <a:ext cx="114300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657600"/>
            <a:ext cx="36576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INTERPRETING SHAP VALUES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977639"/>
            <a:ext cx="11064240" cy="9144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Positive SHAP value → feature pushes patient toward higher-numbered (higher-risk) clusters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Negative SHAP value → feature pulls patient toward lower-risk clusters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High mean |SHAP| → feature strongly separates clusters globally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Subsampled to ≤200 patients for performance; configurable via max_samples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029200"/>
            <a:ext cx="11430000" cy="1188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120640"/>
            <a:ext cx="3657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GRACEFUL DEGRADATION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394960"/>
            <a:ext cx="11064240" cy="822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If SHAP is not installed, endpoint returns zero scores with a stub message. Frontend hides the SHAP panel automatically. The system never fails — it always returns something useful.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Anomaly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05156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EEF2FF"/>
                </a:solidFill>
                <a:latin typeface="Calibri"/>
              </a:rPr>
              <a:t>Isolation Forest flags patients who don't fit the cohort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MediCluster  ·  Patient Health Risk Segregation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114300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Statistically unusual patients may indicate rare disease, data entry errors, or candidates for individual clinical review. Auto-triggered after every clustering run, async, non-blocking.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874519"/>
            <a:ext cx="548640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74519"/>
            <a:ext cx="548640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938528"/>
            <a:ext cx="52120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ISOLATION FOREST ALGORITHM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423160"/>
            <a:ext cx="5212080" cy="2468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Build random decision trees by selecting random feature &amp; split value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Recursively partition data until each point is isolated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Fewer splits to isolate → more anomalous (shorter path length)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Anomaly score = -2^(-avg_path_length / c(n))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contamination = 0.05 (default 5% expected anomalies)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Returns: anomaly_flags (-1 / 1), scores, count, contributions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874519"/>
            <a:ext cx="566928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874519"/>
            <a:ext cx="5669280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938528"/>
            <a:ext cx="53949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FRONTEND: ANOMALY WATCHLIST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423160"/>
            <a:ext cx="5394960" cy="2468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Red-bordered list in Dashboard 'Anomalies' tab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Shows anomaly score, risk tier, top feature values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Click any patient → Patient Detail Modal opens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Empty state: green checkmark with 'No anomalies'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Async run: results merge into dashboard when ready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No timeout risk on primary clustering response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5120640"/>
            <a:ext cx="11430000" cy="12801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212080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WHEN TO INVESTIGATE A FLAGGED PATIENT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486400"/>
            <a:ext cx="11064240" cy="822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EEF2FF"/>
                </a:solidFill>
                <a:latin typeface="Calibri"/>
              </a:rPr>
              <a:t>Rare disease presentation  ·  Data entry error to verify  ·  Patient who doesn't fit any standard cluster  ·  Outlier feature values (e.g. troponin 50x normal)  ·  Reasonable clinical scenario the model hasn't seen before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AutoML &amp; Feature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05156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EEF2FF"/>
                </a:solidFill>
                <a:latin typeface="Calibri"/>
              </a:rPr>
              <a:t>Smarter K, smarter features, smarter predictions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MediCluster  ·  Patient Health Risk Segregation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27432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2743200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234440"/>
            <a:ext cx="2523744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Optimal K Finder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645920"/>
            <a:ext cx="2523744" cy="21945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Elbow + Silhouette sweep K=2..10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Returns recommended K with rationale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Use silhouette K if score &gt; 0.3, else elbow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188720"/>
            <a:ext cx="27432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188720"/>
            <a:ext cx="2743200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1568" y="1234440"/>
            <a:ext cx="2523744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Feature Importance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1568" y="1645920"/>
            <a:ext cx="2523744" cy="21945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Mutual Information (non-linear)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ANOVA F-Score (linear separation)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Composite: 0.6·MI + 0.4·F (clinical non-linearity weight)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188720"/>
            <a:ext cx="27432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188720"/>
            <a:ext cx="274320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7648" y="1234440"/>
            <a:ext cx="2523744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UMAP / t-SNE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1645920"/>
            <a:ext cx="2523744" cy="21945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Better 2D structure than PCA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UMAP: n_neighbors=15, min_dist=0.1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t-SNE: perplexity auto-clamped to (N-1)/3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1188720"/>
            <a:ext cx="27432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0" y="1188720"/>
            <a:ext cx="2743200" cy="38404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53728" y="1234440"/>
            <a:ext cx="2523744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Supervised AutoML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3728" y="1645920"/>
            <a:ext cx="2523744" cy="21945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Auto-detect classification vs regression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3 models: LogReg / RandomForest / GradientBoosting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F1 leaderboard for classification, R² for regression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114800"/>
            <a:ext cx="114300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206240"/>
            <a:ext cx="54864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  <a:latin typeface="Calibri"/>
              </a:rPr>
              <a:t>COMMON SUPERVISED TARGETS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572000"/>
            <a:ext cx="3566160" cy="685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663440"/>
            <a:ext cx="33832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  <a:latin typeface="Consolas"/>
              </a:rPr>
              <a:t>risk_label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956048"/>
            <a:ext cx="33832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Predicted risk tier (classification)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79" y="4572000"/>
            <a:ext cx="3566160" cy="685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4840" y="4663440"/>
            <a:ext cx="33832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  <a:latin typeface="Consolas"/>
              </a:rPr>
              <a:t>readmitted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4956048"/>
            <a:ext cx="33832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30-day readmission (classification)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19" y="4572000"/>
            <a:ext cx="3566160" cy="685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83879" y="4663440"/>
            <a:ext cx="33832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  <a:latin typeface="Consolas"/>
              </a:rPr>
              <a:t>icu_admission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79" y="4956048"/>
            <a:ext cx="33832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ICU need prediction (classification)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349240"/>
            <a:ext cx="3566160" cy="685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5440679"/>
            <a:ext cx="33832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  <a:latin typeface="Consolas"/>
              </a:rPr>
              <a:t>length_of_stay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5733288"/>
            <a:ext cx="33832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Predicted LOS in days (regression)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97679" y="5349240"/>
            <a:ext cx="3566160" cy="685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34840" y="5440679"/>
            <a:ext cx="33832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  <a:latin typeface="Consolas"/>
              </a:rPr>
              <a:t>mortality_risk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34840" y="5733288"/>
            <a:ext cx="33832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In-hospital mortality (classification)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Clinical Notes NLP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05156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EEF2FF"/>
                </a:solidFill>
                <a:latin typeface="Calibri"/>
              </a:rPr>
              <a:t>20+ structured fields extracted from free-text clinical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MediCluster  ·  Patient Health Risk Segregation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2851" y="1188720"/>
            <a:ext cx="1078992" cy="86868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8571" y="1280160"/>
            <a:ext cx="987551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Spell
correction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55851" y="1188720"/>
            <a:ext cx="1078992" cy="86868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01571" y="1280160"/>
            <a:ext cx="987551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Risk keywords
(4-tier)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98851" y="1188720"/>
            <a:ext cx="1078992" cy="86868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4571" y="1280160"/>
            <a:ext cx="987551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Trajectory
detection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1851" y="1188720"/>
            <a:ext cx="1078992" cy="86868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87571" y="1280160"/>
            <a:ext cx="987551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Drug
extraction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84851" y="1188720"/>
            <a:ext cx="1078992" cy="86868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30571" y="1280160"/>
            <a:ext cx="987551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Lab value
extraction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7851" y="1188720"/>
            <a:ext cx="1078992" cy="86868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3571" y="1280160"/>
            <a:ext cx="987551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Symptom
extraction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70851" y="1188720"/>
            <a:ext cx="1078992" cy="86868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6571" y="1280160"/>
            <a:ext cx="987551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SpaCy
NER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3851" y="1188720"/>
            <a:ext cx="1078992" cy="86868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59571" y="1280160"/>
            <a:ext cx="987551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ICD-10
suggest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56851" y="1188720"/>
            <a:ext cx="1078992" cy="86868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2571" y="1280160"/>
            <a:ext cx="987551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Risk tier
infer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699851" y="1188720"/>
            <a:ext cx="1078992" cy="86868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45571" y="1280160"/>
            <a:ext cx="987551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Department
routing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2240280"/>
            <a:ext cx="27432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2240280"/>
            <a:ext cx="2743200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" y="2286000"/>
            <a:ext cx="2523744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Symptom Extraction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" y="2697480"/>
            <a:ext cx="2523744" cy="17373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Bef>
                <a:spcPts val="200"/>
              </a:spcBef>
            </a:pPr>
            <a:r>
              <a:rPr sz="1000">
                <a:solidFill>
                  <a:srgbClr val="334155"/>
                </a:solidFill>
                <a:latin typeface="Calibri"/>
              </a:rPr>
              <a:t>•  21 canonical symptoms tracked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4155"/>
                </a:solidFill>
                <a:latin typeface="Calibri"/>
              </a:rPr>
              <a:t>•  Negation detection (45-char window)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4155"/>
                </a:solidFill>
                <a:latin typeface="Calibri"/>
              </a:rPr>
              <a:t>•  Severity &amp; duration extraction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4155"/>
                </a:solidFill>
                <a:latin typeface="Calibri"/>
              </a:rPr>
              <a:t>•  Positive mention wins over negated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91840" y="2240280"/>
            <a:ext cx="27432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91840" y="2240280"/>
            <a:ext cx="2743200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01568" y="2286000"/>
            <a:ext cx="2523744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ICD-10 Mapping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01568" y="2697480"/>
            <a:ext cx="2523744" cy="17373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Bef>
                <a:spcPts val="200"/>
              </a:spcBef>
            </a:pPr>
            <a:r>
              <a:rPr sz="1000">
                <a:solidFill>
                  <a:srgbClr val="334155"/>
                </a:solidFill>
                <a:latin typeface="Calibri"/>
              </a:rPr>
              <a:t>•  Rule-based, 19 common conditions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4155"/>
                </a:solidFill>
                <a:latin typeface="Calibri"/>
              </a:rPr>
              <a:t>•  Pneumonia, sepsis, MI, stroke, AKI...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4155"/>
                </a:solidFill>
                <a:latin typeface="Calibri"/>
              </a:rPr>
              <a:t>•  Keyword → code mapping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4155"/>
                </a:solidFill>
                <a:latin typeface="Calibri"/>
              </a:rPr>
              <a:t>•  Returns code + description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2240280"/>
            <a:ext cx="27432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2240280"/>
            <a:ext cx="2743200" cy="38404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27648" y="2286000"/>
            <a:ext cx="2523744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Risk Keyword Lexicon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27648" y="2697480"/>
            <a:ext cx="2523744" cy="17373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Bef>
                <a:spcPts val="200"/>
              </a:spcBef>
            </a:pPr>
            <a:r>
              <a:rPr sz="1000">
                <a:solidFill>
                  <a:srgbClr val="334155"/>
                </a:solidFill>
                <a:latin typeface="Calibri"/>
              </a:rPr>
              <a:t>•  Critical: cardiac arrest, ICU, intubated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4155"/>
                </a:solidFill>
                <a:latin typeface="Calibri"/>
              </a:rPr>
              <a:t>•  High: PE, pneumonia, AKI, deteriorating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4155"/>
                </a:solidFill>
                <a:latin typeface="Calibri"/>
              </a:rPr>
              <a:t>•  Moderate: diabetes, HTN, AFib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4155"/>
                </a:solidFill>
                <a:latin typeface="Calibri"/>
              </a:rPr>
              <a:t>•  Low: stable, improving, discharged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2240280"/>
            <a:ext cx="27432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144000" y="2240280"/>
            <a:ext cx="2743200" cy="38404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53728" y="2286000"/>
            <a:ext cx="2523744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Trajectory + Summary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53728" y="2697480"/>
            <a:ext cx="2523744" cy="17373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Bef>
                <a:spcPts val="200"/>
              </a:spcBef>
            </a:pPr>
            <a:r>
              <a:rPr sz="1000">
                <a:solidFill>
                  <a:srgbClr val="334155"/>
                </a:solidFill>
                <a:latin typeface="Calibri"/>
              </a:rPr>
              <a:t>•  Improving / stable / deteriorating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4155"/>
                </a:solidFill>
                <a:latin typeface="Calibri"/>
              </a:rPr>
              <a:t>•  Compares improvement vs deterioration hits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4155"/>
                </a:solidFill>
                <a:latin typeface="Calibri"/>
              </a:rPr>
              <a:t>•  DistilBART abstractive summary (optional)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4155"/>
                </a:solidFill>
                <a:latin typeface="Calibri"/>
              </a:rPr>
              <a:t>•  Template fallback when no transformer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5394960"/>
            <a:ext cx="11430000" cy="914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5486400"/>
            <a:ext cx="3657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  <a:latin typeface="Calibri"/>
              </a:rPr>
              <a:t>NLP BACKEND DETECTION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Response includes nlp_backend: 'scispacy' or 'regex-fallback' so the frontend can show sophistication tier to the clinician.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Vitals Forecasting + MEWS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05156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EEF2FF"/>
                </a:solidFill>
                <a:latin typeface="Calibri"/>
              </a:rPr>
              <a:t>Predict deterioration 3+ readings ahead, validated clinical early-warning score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MediCluster  ·  Patient Health Risk Segregation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54864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4F46E5"/>
                </a:solidFill>
                <a:latin typeface="Calibri"/>
              </a:rPr>
              <a:t>MEWS (MODIFIED EARLY WARNING SCORE)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914400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545336"/>
            <a:ext cx="8229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MEWS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80160" y="1508760"/>
            <a:ext cx="914400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1545336"/>
            <a:ext cx="8229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Alert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94560" y="1508760"/>
            <a:ext cx="3657600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40279" y="1545336"/>
            <a:ext cx="35661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874519"/>
            <a:ext cx="54864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1911095"/>
            <a:ext cx="822960" cy="3383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0-1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1911095"/>
            <a:ext cx="822960" cy="3383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79" y="1911095"/>
            <a:ext cx="3566160" cy="3383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Routine monitoring every 12 hours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286000"/>
            <a:ext cx="5486400" cy="4114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2322576"/>
            <a:ext cx="822960" cy="3383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2-3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322576"/>
            <a:ext cx="822960" cy="3383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Moderate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0279" y="2322576"/>
            <a:ext cx="3566160" cy="3383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Notify charge nurse, monitor every 4 hours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697480"/>
            <a:ext cx="54864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2734056"/>
            <a:ext cx="822960" cy="3383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4-5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2734056"/>
            <a:ext cx="822960" cy="3383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High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40279" y="2734056"/>
            <a:ext cx="3566160" cy="3383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Urgent medical review within 30 minutes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108960"/>
            <a:ext cx="5486400" cy="4114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3145536"/>
            <a:ext cx="822960" cy="3383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≥6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3145536"/>
            <a:ext cx="822960" cy="3383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Critical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40279" y="3145536"/>
            <a:ext cx="3566160" cy="3383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IMMEDIATE medical emergency response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1097280"/>
            <a:ext cx="56692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  <a:latin typeface="Calibri"/>
              </a:rPr>
              <a:t>FORECASTING METHODS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0" y="1554480"/>
            <a:ext cx="5669280" cy="4572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1554480"/>
            <a:ext cx="91440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0" y="1645920"/>
            <a:ext cx="9144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LSTM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1645920"/>
            <a:ext cx="4572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PyTorch 2-layer LSTM, hidden=32, 60 epochs Adam lr=0.01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26480" y="2057400"/>
            <a:ext cx="5669280" cy="4572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26480" y="2057400"/>
            <a:ext cx="91440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6480" y="2148840"/>
            <a:ext cx="9144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Prophet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2148840"/>
            <a:ext cx="4572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Trend + seasonality decomposition, ≥10 readings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80" y="2560320"/>
            <a:ext cx="5669280" cy="4572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6480" y="2560320"/>
            <a:ext cx="91440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26480" y="2651760"/>
            <a:ext cx="9144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Linear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0" y="2651760"/>
            <a:ext cx="4572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numpy.polyfit fallback, ±0.5·std confidence band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26480" y="3063240"/>
            <a:ext cx="5669280" cy="4572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26480" y="3063240"/>
            <a:ext cx="91440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26480" y="3154680"/>
            <a:ext cx="9144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Auto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32320" y="3154680"/>
            <a:ext cx="4572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Prophet if available &amp; ≥10 readings, else LSTM, else Linear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3794760"/>
            <a:ext cx="114300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  <a:latin typeface="Calibri"/>
              </a:rPr>
              <a:t>DETERIORATION RISK ASSESSMENT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4114800"/>
            <a:ext cx="11430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After forecasting, trend-based signals are counted and combined with MEWS: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4434840"/>
            <a:ext cx="11430000" cy="18288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334155"/>
                </a:solidFill>
                <a:latin typeface="Calibri"/>
              </a:rPr>
              <a:t>•  HR or RR forecast &gt; 10% above last value → +1 deterioration signal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34155"/>
                </a:solidFill>
                <a:latin typeface="Calibri"/>
              </a:rPr>
              <a:t>•  Systolic BP forecast &gt; 10% below last value → +1 deterioration signal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34155"/>
                </a:solidFill>
                <a:latin typeface="Calibri"/>
              </a:rPr>
              <a:t>•  MEWS ≥ 6 OR ≥ 3 trend signals → 'critical'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34155"/>
                </a:solidFill>
                <a:latin typeface="Calibri"/>
              </a:rPr>
              <a:t>•  MEWS ≥ 4 OR ≥ 2 trend signals → 'high'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34155"/>
                </a:solidFill>
                <a:latin typeface="Calibri"/>
              </a:rPr>
              <a:t>•  MEWS ≥ 2 OR ≥ 1 signal → 'moderate'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34155"/>
                </a:solidFill>
                <a:latin typeface="Calibri"/>
              </a:rPr>
              <a:t>•  Otherwise → 'low'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6309360"/>
            <a:ext cx="11430000" cy="8229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MINIMUM REQUIREMENTS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6675120"/>
            <a:ext cx="110642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EEF2FF"/>
                </a:solidFill>
                <a:latin typeface="Calibri"/>
              </a:rPr>
              <a:t>4 data points for LSTM  ·  10 for Prophet  ·  Forecast returns yhat, yhat_lower, yhat_upper confidence intervals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Medical Imaging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05156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EEF2FF"/>
                </a:solidFill>
                <a:latin typeface="Calibri"/>
              </a:rPr>
              <a:t>Chest X-ray pathology detection with Grad-CAM explainability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MediCluster  ·  Patient Health Risk Segregation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114300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4F46E5"/>
                </a:solidFill>
                <a:latin typeface="Calibri"/>
              </a:rPr>
              <a:t>FIVE TORCHXRAYVISION MODELS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3333750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499616"/>
            <a:ext cx="324231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Model 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99510" y="1463040"/>
            <a:ext cx="1905000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5230" y="1499616"/>
            <a:ext cx="18135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04510" y="1463040"/>
            <a:ext cx="4762500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50230" y="1499616"/>
            <a:ext cx="46710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Training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67009" y="1463040"/>
            <a:ext cx="1428750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12730" y="1499616"/>
            <a:ext cx="133731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1828800"/>
            <a:ext cx="1143000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1865376"/>
            <a:ext cx="324231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densenet121-res224-chex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5230" y="1865376"/>
            <a:ext cx="181356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DenseNet-121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50230" y="1865376"/>
            <a:ext cx="467106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Stanford CheXpert (224k)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12730" y="1865376"/>
            <a:ext cx="133731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224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121408"/>
            <a:ext cx="1143000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2157984"/>
            <a:ext cx="324231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densenet121-res224-all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5230" y="2157984"/>
            <a:ext cx="181356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DenseNet-121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50230" y="2157984"/>
            <a:ext cx="467106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CheXpert+NIH+MIMIC+PadChest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12730" y="2157984"/>
            <a:ext cx="133731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224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414016"/>
            <a:ext cx="1143000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2450592"/>
            <a:ext cx="324231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resnet50-res512-all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5230" y="2450592"/>
            <a:ext cx="181356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ResNet-50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50230" y="2450592"/>
            <a:ext cx="467106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All datasets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12730" y="2450592"/>
            <a:ext cx="133731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512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2706624"/>
            <a:ext cx="1143000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2743200"/>
            <a:ext cx="324231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densenet121-res224-nih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45230" y="2743200"/>
            <a:ext cx="181356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DenseNet-121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50230" y="2743200"/>
            <a:ext cx="467106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NIH ChestX-ray14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12730" y="2743200"/>
            <a:ext cx="133731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224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2999232"/>
            <a:ext cx="1143000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3035808"/>
            <a:ext cx="324231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densenet121-res224-pc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45230" y="3035808"/>
            <a:ext cx="181356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DenseNet-121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50230" y="3035808"/>
            <a:ext cx="467106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PadChest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12730" y="3035808"/>
            <a:ext cx="133731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224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3337560"/>
            <a:ext cx="11430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Recommended default: densenet121-res224-chex (CheXNet) — best calibrated for 14-class detection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3703320"/>
            <a:ext cx="114300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  <a:latin typeface="Calibri"/>
              </a:rPr>
              <a:t>PREPROCESSING → INFERENCE → CLINICAL ENRICHMENT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65760" y="4114800"/>
            <a:ext cx="11430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65760" y="4251960"/>
            <a:ext cx="1593668" cy="12801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1480" y="4343400"/>
            <a:ext cx="1502228" cy="10972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4F46E5"/>
                </a:solidFill>
                <a:latin typeface="Calibri"/>
              </a:rPr>
              <a:t>DICOM detection
(pydicom)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005148" y="4251960"/>
            <a:ext cx="1593668" cy="12801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50868" y="4343400"/>
            <a:ext cx="1502228" cy="10972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4F46E5"/>
                </a:solidFill>
                <a:latin typeface="Calibri"/>
              </a:rPr>
              <a:t>CLAHE enhancement
(non-DICOM only)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44537" y="4251960"/>
            <a:ext cx="1593668" cy="12801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90257" y="4343400"/>
            <a:ext cx="1502228" cy="10972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4F46E5"/>
                </a:solidFill>
                <a:latin typeface="Calibri"/>
              </a:rPr>
              <a:t>TorchXRayVision
normalize [-1024, 1024]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283925" y="4251960"/>
            <a:ext cx="1593668" cy="12801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29645" y="4343400"/>
            <a:ext cx="1502228" cy="10972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4F46E5"/>
                </a:solidFill>
                <a:latin typeface="Calibri"/>
              </a:rPr>
              <a:t>Center crop
+ resize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23314" y="4251960"/>
            <a:ext cx="1593668" cy="12801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69034" y="4343400"/>
            <a:ext cx="1502228" cy="10972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4F46E5"/>
                </a:solidFill>
                <a:latin typeface="Calibri"/>
              </a:rPr>
              <a:t>Forward pass
+ sigmoid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62702" y="4251960"/>
            <a:ext cx="1593668" cy="12801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608422" y="4343400"/>
            <a:ext cx="1502228" cy="10972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4F46E5"/>
                </a:solidFill>
                <a:latin typeface="Calibri"/>
              </a:rPr>
              <a:t>Filter ≥15%
confidence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202091" y="4251960"/>
            <a:ext cx="1593668" cy="12801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247811" y="4343400"/>
            <a:ext cx="1502228" cy="10972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4F46E5"/>
                </a:solidFill>
                <a:latin typeface="Calibri"/>
              </a:rPr>
              <a:t>Attach clinical
context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5852160"/>
            <a:ext cx="11430000" cy="12801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8640" y="5943600"/>
            <a:ext cx="3657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GRAD-CAM HEATMAPS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6217920"/>
            <a:ext cx="11064240" cy="822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Generate visual evidence of where the model focused for each pathology. Red regions = strongest activation. Returns base64 PNG for overlay on the original image. Downloadable as PNG.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RAG Chatbot + Drug Interaction Checker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05156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EEF2FF"/>
                </a:solidFill>
                <a:latin typeface="Calibri"/>
              </a:rPr>
              <a:t>Natural language Q&amp;A over indexed patients, with built-in medication safety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MediCluster  ·  Patient Health Risk Segregation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88720"/>
            <a:ext cx="566928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66928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52728"/>
            <a:ext cx="53949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RAG CHATBOT — ASK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37360"/>
            <a:ext cx="5394960" cy="43891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User query: 'Which High Risk patients are over 60?'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TF-IDF vector search (top-50 matching patients)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Structured filter extraction (risk_tier, age range, cluster_id)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Filter application to retrieved patients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Answer generation: stats + sample patient list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Returns {answer, matched_patients, filters_applied}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FAISS optional: replace exact cosine with ANN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Index rebuilt after every /cluster run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88720"/>
            <a:ext cx="557784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188720"/>
            <a:ext cx="5577840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252728"/>
            <a:ext cx="53035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DRUG INTERACTION CHECKER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1737360"/>
            <a:ext cx="3712464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773936"/>
            <a:ext cx="3621024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Pair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67544" y="1737360"/>
            <a:ext cx="1591055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13264" y="1773936"/>
            <a:ext cx="1499615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Severity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2103120"/>
            <a:ext cx="530352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139696"/>
            <a:ext cx="3621024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Warfarin + Aspirin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13264" y="2139696"/>
            <a:ext cx="1499615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Major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2468879"/>
            <a:ext cx="530352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505456"/>
            <a:ext cx="3621024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Warfarin + Ibuprofen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13264" y="2505456"/>
            <a:ext cx="1499615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Major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5080" y="2834639"/>
            <a:ext cx="530352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2871215"/>
            <a:ext cx="3621024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Metformin + Alcohol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13264" y="2871215"/>
            <a:ext cx="1499615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Major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5080" y="3200400"/>
            <a:ext cx="530352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3236976"/>
            <a:ext cx="3621024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Metoprolol + Verapamil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13264" y="3236976"/>
            <a:ext cx="1499615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Major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5080" y="3566160"/>
            <a:ext cx="530352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3602736"/>
            <a:ext cx="3621024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SSRI + Tramadol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13264" y="3602736"/>
            <a:ext cx="1499615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Major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5080" y="3931920"/>
            <a:ext cx="530352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968496"/>
            <a:ext cx="3621024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Lithium + Ibuprofen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13264" y="3968496"/>
            <a:ext cx="1499615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Major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4297680"/>
            <a:ext cx="530352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4334256"/>
            <a:ext cx="3621024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Lisinopril + Potassium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13264" y="4334256"/>
            <a:ext cx="1499615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Moderate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5080" y="4663440"/>
            <a:ext cx="530352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4700016"/>
            <a:ext cx="3621024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Furosemide + Digoxin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13264" y="4700016"/>
            <a:ext cx="1499615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Moderate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5120640"/>
            <a:ext cx="5303520" cy="10972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12 high-priority pairs in knowledge base. Substring matching handles brand names, abbreviations, partial matches. Auto-triggers when 2+ meds extracted from notes.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Frontend — 13 Pages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05156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EEF2FF"/>
                </a:solidFill>
                <a:latin typeface="Calibri"/>
              </a:rPr>
              <a:t>Single-page React app, top-nav layout, dark clinical aesthetic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MediCluster  ·  Patient Health Risk Segregation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39"/>
            <a:ext cx="3749039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34439"/>
            <a:ext cx="109728" cy="11887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25880"/>
            <a:ext cx="34747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  <a:latin typeface="Calibri"/>
              </a:rPr>
              <a:t>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91639"/>
            <a:ext cx="3474720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Upload, configure, scatter, risk donut, metrics, SHAP, PDF export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234439"/>
            <a:ext cx="3749039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234439"/>
            <a:ext cx="109728" cy="1188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325880"/>
            <a:ext cx="34747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Clinical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691639"/>
            <a:ext cx="3474720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Real-time NLP, risk profile, MEWS, care plan, drug check, vitals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234439"/>
            <a:ext cx="3749039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234439"/>
            <a:ext cx="109728" cy="1188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1325880"/>
            <a:ext cx="34747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Calibri"/>
              </a:rPr>
              <a:t>Imaging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1691639"/>
            <a:ext cx="3474720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X-ray upload, 5 models, findings, Grad-CAM, clinical context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2514600"/>
            <a:ext cx="3749039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2514600"/>
            <a:ext cx="109728" cy="11887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2606040"/>
            <a:ext cx="34747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  <a:latin typeface="Calibri"/>
              </a:rPr>
              <a:t>ML Tools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2971800"/>
            <a:ext cx="3474720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Optimal K, UMAP/t-SNE, supervised AutoML, feature importance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2514600"/>
            <a:ext cx="3749039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80" y="2514600"/>
            <a:ext cx="109728" cy="1188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2606040"/>
            <a:ext cx="34747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Patients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2971800"/>
            <a:ext cx="3474720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Search, media, cluster history, similar patient search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2514600"/>
            <a:ext cx="3749039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0" y="2514600"/>
            <a:ext cx="109728" cy="1188720"/>
          </a:xfrm>
          <a:prstGeom prst="rect">
            <a:avLst/>
          </a:prstGeom>
          <a:solidFill>
            <a:srgbClr val="03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58200" y="2606040"/>
            <a:ext cx="34747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0382F6"/>
                </a:solidFill>
                <a:latin typeface="Calibri"/>
              </a:rPr>
              <a:t>Predict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2971800"/>
            <a:ext cx="3474720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Single-patient risk from saved cluster centroids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3794759"/>
            <a:ext cx="3749039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3794759"/>
            <a:ext cx="109728" cy="1188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3886199"/>
            <a:ext cx="34747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  <a:latin typeface="Calibri"/>
              </a:rPr>
              <a:t>Dispatch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4251959"/>
            <a:ext cx="3474720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Triage assessment, ambulance dispatch, hospital routing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97680" y="3794759"/>
            <a:ext cx="3749039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97680" y="3794759"/>
            <a:ext cx="109728" cy="1188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26280" y="3886199"/>
            <a:ext cx="34747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16A34A"/>
                </a:solidFill>
                <a:latin typeface="Calibri"/>
              </a:rPr>
              <a:t>Hospitals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26280" y="4251959"/>
            <a:ext cx="3474720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Leaflet map, Overpass query, OSRM routing, distance &amp; capacity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0" y="3794759"/>
            <a:ext cx="3749039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229600" y="3794759"/>
            <a:ext cx="109728" cy="11887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58200" y="3886199"/>
            <a:ext cx="34747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  <a:latin typeface="Calibri"/>
              </a:rPr>
              <a:t>Reminders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58200" y="4251959"/>
            <a:ext cx="3474720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Clinical task scheduler, priority, recurring, PDF/CSV export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65760" y="5074919"/>
            <a:ext cx="3749039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65760" y="5074919"/>
            <a:ext cx="109728" cy="1188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" y="5166359"/>
            <a:ext cx="34747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MCI Board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" y="5532119"/>
            <a:ext cx="3474720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Mass Casualty grid by START triage (black/red/yellow/green)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297680" y="5074919"/>
            <a:ext cx="3749039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297680" y="5074919"/>
            <a:ext cx="109728" cy="1188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26280" y="5166359"/>
            <a:ext cx="34747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Calibri"/>
              </a:rPr>
              <a:t>Ask AI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26280" y="5532119"/>
            <a:ext cx="3474720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Chat interface, complex patient queries, applied filters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229600" y="5074919"/>
            <a:ext cx="3749039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229600" y="5074919"/>
            <a:ext cx="109728" cy="11887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58200" y="5166359"/>
            <a:ext cx="34747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  <a:latin typeface="Calibri"/>
              </a:rPr>
              <a:t>Home / Login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58200" y="5532119"/>
            <a:ext cx="3474720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Landing, onboarding, 4 algorithm hero cards, 3-step demo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1">
                <a:solidFill>
                  <a:srgbClr val="64748B"/>
                </a:solidFill>
                <a:latin typeface="Calibri"/>
              </a:rPr>
              <a:t>Design: Deep navy (#0A0F1E) + electric teal (#00D4AA). Monospace for vitals, sans-serif for UI. Flat dark panels, no gradients.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Ambulance Dispatch + MCI Triage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05156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EEF2FF"/>
                </a:solidFill>
                <a:latin typeface="Calibri"/>
              </a:rPr>
              <a:t>Real-time emergency coordination with mass casualty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MediCluster  ·  Patient Health Risk Segregation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88720"/>
            <a:ext cx="56692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669280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52728"/>
            <a:ext cx="53949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ARIA — AMBULANCE DISPATCH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37360"/>
            <a:ext cx="5394960" cy="42976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Live Leaflet.js map with ambulance positions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Real-time status: available / en_route / at_scene / transporting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WebSocket events: dispatch:new, driver:status, location:update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OSRM road-network routing (replaces Haversine straight-line)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Claude selects nearest ambulance + best hospital by bed count and specialty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Route polyline visualization on map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Driver dashboard with patient alert overlays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Two-way dispatcher-driver communication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Full dispatch history (resolve/cancel)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88720"/>
            <a:ext cx="557784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188720"/>
            <a:ext cx="5577840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252728"/>
            <a:ext cx="53035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MCI TRIAGE BOARD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1783080"/>
            <a:ext cx="2560320" cy="54864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874519"/>
            <a:ext cx="25603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Black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075688"/>
            <a:ext cx="25603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EEF2FF"/>
                </a:solidFill>
                <a:latin typeface="Calibri"/>
              </a:rPr>
              <a:t>Deceased/Expectant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60" y="1783080"/>
            <a:ext cx="2560320" cy="5486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0" y="1874519"/>
            <a:ext cx="25603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2075688"/>
            <a:ext cx="25603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EEF2FF"/>
                </a:solidFill>
                <a:latin typeface="Calibri"/>
              </a:rPr>
              <a:t>Immediate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2423160"/>
            <a:ext cx="2560320" cy="548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2514600"/>
            <a:ext cx="25603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Yellow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715768"/>
            <a:ext cx="25603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EEF2FF"/>
                </a:solidFill>
                <a:latin typeface="Calibri"/>
              </a:rPr>
              <a:t>Delayed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52560" y="2423160"/>
            <a:ext cx="2560320" cy="5486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0" y="2514600"/>
            <a:ext cx="25603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Green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2715768"/>
            <a:ext cx="25603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EEF2FF"/>
                </a:solidFill>
                <a:latin typeface="Calibri"/>
              </a:rPr>
              <a:t>Minor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154680"/>
            <a:ext cx="5349240" cy="29260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Voice-to-triage: speak/type patient condition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Claude extracts vitals + assigns P1/P2/P3/P4 priority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Stateless scoring: instant score, no DB write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Hospital allocation by triage category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Pathway flags (trauma / cardiac / respiratory)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Live patient cards with vitals history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Transport status tracking per patient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API Reference (25+ endpoints)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05156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EEF2FF"/>
                </a:solidFill>
                <a:latin typeface="Calibri"/>
              </a:rPr>
              <a:t>ML engine on :5001, backend on :5000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MediCluster  ·  Patient Health Risk Segregation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2484782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25296"/>
            <a:ext cx="2393342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Endpoint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850542" y="1188720"/>
            <a:ext cx="7951304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96262" y="1225296"/>
            <a:ext cx="7859864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Purpose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801846" y="1188720"/>
            <a:ext cx="993913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47566" y="1225296"/>
            <a:ext cx="902473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554480"/>
            <a:ext cx="11430000" cy="3331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1591056"/>
            <a:ext cx="2393342" cy="25995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/cluster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96262" y="1591056"/>
            <a:ext cx="7859864" cy="25995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Run clustering (kmeans/dbscan/hierarchical/gmm/all)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47566" y="1591056"/>
            <a:ext cx="902473" cy="25995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POST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887582"/>
            <a:ext cx="11430000" cy="33310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1924158"/>
            <a:ext cx="2393342" cy="25995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/preprocess-preview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96262" y="1924158"/>
            <a:ext cx="7859864" cy="25995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Dataset stats + dropped-row warnings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47566" y="1924158"/>
            <a:ext cx="902473" cy="25995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POST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220685"/>
            <a:ext cx="11430000" cy="3331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2257261"/>
            <a:ext cx="2393342" cy="25995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/optimal-k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96262" y="2257261"/>
            <a:ext cx="7859864" cy="25995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Elbow + Silhouette sweep, recommended 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47566" y="2257261"/>
            <a:ext cx="902473" cy="25995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POST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553788"/>
            <a:ext cx="11430000" cy="33310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2590364"/>
            <a:ext cx="2393342" cy="25995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/explain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96262" y="2590364"/>
            <a:ext cx="7859864" cy="25995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SHAP global + per-patient feature importance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47566" y="2590364"/>
            <a:ext cx="902473" cy="25995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POST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2886891"/>
            <a:ext cx="11430000" cy="3331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2923467"/>
            <a:ext cx="2393342" cy="25995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/detect-anomalies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96262" y="2923467"/>
            <a:ext cx="7859864" cy="25995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Isolation Forest outlier flags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47566" y="2923467"/>
            <a:ext cx="902473" cy="25995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POST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219994"/>
            <a:ext cx="11430000" cy="33310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3256570"/>
            <a:ext cx="2393342" cy="25995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/risk-profile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96262" y="3256570"/>
            <a:ext cx="7859864" cy="25995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Single-patient composite risk, 6 disease scores, care plan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47566" y="3256570"/>
            <a:ext cx="902473" cy="25995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POST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553097"/>
            <a:ext cx="11430000" cy="3331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3589673"/>
            <a:ext cx="2393342" cy="25995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/compare-visits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96262" y="3589673"/>
            <a:ext cx="7859864" cy="25995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Cross-visit risk delta, trend label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47566" y="3589673"/>
            <a:ext cx="902473" cy="25995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POST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3886200"/>
            <a:ext cx="11430000" cy="33310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3922776"/>
            <a:ext cx="2393342" cy="25995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/similar-patients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96262" y="3922776"/>
            <a:ext cx="7859864" cy="25995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Top-K clinical similarity search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47566" y="3922776"/>
            <a:ext cx="902473" cy="25995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POST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4219302"/>
            <a:ext cx="11430000" cy="3331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1480" y="4255878"/>
            <a:ext cx="2393342" cy="25995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/analyze-notes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96262" y="4255878"/>
            <a:ext cx="7859864" cy="25995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Full NLP pipeline: trajectory, ICD-10, drugs, symptoms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47566" y="4255878"/>
            <a:ext cx="902473" cy="25995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POST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4552405"/>
            <a:ext cx="11430000" cy="33310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80" y="4588981"/>
            <a:ext cx="2393342" cy="25995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/drug-interactions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896262" y="4588981"/>
            <a:ext cx="7859864" cy="25995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12-pair knowledge base check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847566" y="4588981"/>
            <a:ext cx="902473" cy="25995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POST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4885508"/>
            <a:ext cx="11430000" cy="3331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80" y="4922084"/>
            <a:ext cx="2393342" cy="25995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/forecast-vitals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896262" y="4922084"/>
            <a:ext cx="7859864" cy="25995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LSTM/Prophet forecast + MEWS + deterioration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847566" y="4922084"/>
            <a:ext cx="902473" cy="25995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POST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5218611"/>
            <a:ext cx="11430000" cy="33310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1480" y="5255187"/>
            <a:ext cx="2393342" cy="25995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/analyze-image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896262" y="5255187"/>
            <a:ext cx="7859864" cy="25995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Chest X-ray pathology detection (5 models)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847566" y="5255187"/>
            <a:ext cx="902473" cy="25995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POST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5551714"/>
            <a:ext cx="11430000" cy="3331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1480" y="5588290"/>
            <a:ext cx="2393342" cy="25995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/gradcam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896262" y="5588290"/>
            <a:ext cx="7859864" cy="25995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Heatmap overlay for image model focus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847566" y="5588290"/>
            <a:ext cx="902473" cy="25995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POST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5760" y="5884817"/>
            <a:ext cx="11430000" cy="33310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11480" y="5921393"/>
            <a:ext cx="2393342" cy="25995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/ask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896262" y="5921393"/>
            <a:ext cx="7859864" cy="25995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RAG chatbot natural language Q&amp;A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847566" y="5921393"/>
            <a:ext cx="902473" cy="25995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POST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5760" y="6263640"/>
            <a:ext cx="114300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Backend proxies all ML calls with 120s timeout; persists results to MongoDB for history comparison.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Deployment &amp; Quick 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05156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EEF2FF"/>
                </a:solidFill>
                <a:latin typeface="Calibri"/>
              </a:rPr>
              <a:t>Docker Compose for one-command bring-up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MediCluster  ·  Patient Health Risk Segregation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7315200" cy="36576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69494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EEF2FF"/>
                </a:solidFill>
                <a:latin typeface="Calibri"/>
              </a:rPr>
              <a:t>docker-compose.yml (excerpt)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6949440" cy="3154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EEF2FF"/>
                </a:solidFill>
                <a:latin typeface="Consolas"/>
              </a:rPr>
              <a:t>services:
  ml-engine:
    build: ./ml-engine
    ports: ["5001:5001"]
    environment:
      - FLASK_ENV=production
  backend:
    build: ./backend
    ports: ["5000:5000"]
    depends_on: [ml-engine, mongodb]
    environment:
      - MONGO_URI=mongodb://mongodb:27017/medicluster
      - ML_ENGINE_URL=http://ml-engine:5001
  frontend:
    build: ./frontend
    ports: ["5173:80"]
    depends_on: [backend]
  mongodb:
    image: mongo:7
    volumes: [mongo_data:/data/db]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188720"/>
            <a:ext cx="393192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63840" y="1188720"/>
            <a:ext cx="3931920" cy="4114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1252728"/>
            <a:ext cx="3657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QUICK START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1737360"/>
            <a:ext cx="3657600" cy="3017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onsolas"/>
              </a:rPr>
              <a:t>cd medicluster
docker compose up --build
Or manual:
  ml-engine: python app.py (:5001)
  backend:   npm run dev (:5000)
  frontend:  npm run dev (:5173)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5029200"/>
            <a:ext cx="11430000" cy="12801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120640"/>
            <a:ext cx="4572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  <a:latin typeface="Calibri"/>
              </a:rPr>
              <a:t>PRODUCTION INFRASTRUCTURE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394960"/>
            <a:ext cx="11064240" cy="9144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Gunicorn: 2 workers, 300s timeout (LSTM + Grad-CAM)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Ambulance dispatch: Kubernetes manifests + Terraform configs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Nginx proxies /api/ requests from frontend container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Health check endpoints for container orchestration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Performance &amp; Scalability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05156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EEF2FF"/>
                </a:solidFill>
                <a:latin typeface="Calibri"/>
              </a:rPr>
              <a:t>Measured on commodity hardware, no GPU required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MediCluster  ·  Patient Health Risk Segregation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3657600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25296"/>
            <a:ext cx="35661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Operation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360" y="1188720"/>
            <a:ext cx="3657600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69080" y="1225296"/>
            <a:ext cx="35661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Dataset Size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0" y="1188720"/>
            <a:ext cx="4114800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80" y="1225296"/>
            <a:ext cx="40233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Typical Latency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554480"/>
            <a:ext cx="114300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1591056"/>
            <a:ext cx="35661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K-Means clustering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9080" y="1591056"/>
            <a:ext cx="35661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100 patients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80" y="1591056"/>
            <a:ext cx="40233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&lt; 200ms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920240"/>
            <a:ext cx="1143000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1956816"/>
            <a:ext cx="35661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K-Means clustering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1956816"/>
            <a:ext cx="35661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10,000 patients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80" y="1956816"/>
            <a:ext cx="40233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&lt; 5s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286000"/>
            <a:ext cx="114300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2322576"/>
            <a:ext cx="35661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NLP notes analysis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9080" y="2322576"/>
            <a:ext cx="35661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Short note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80" y="2322576"/>
            <a:ext cx="40233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&lt; 500ms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651760"/>
            <a:ext cx="1143000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2688336"/>
            <a:ext cx="35661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NLP notes analysis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69080" y="2688336"/>
            <a:ext cx="35661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Full discharge summary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80" y="2688336"/>
            <a:ext cx="40233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&lt; 2s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017520"/>
            <a:ext cx="114300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3054096"/>
            <a:ext cx="35661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LSTM training + forecast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69080" y="3054096"/>
            <a:ext cx="35661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20 readings, 3 steps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26680" y="3054096"/>
            <a:ext cx="40233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&lt; 3s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383280"/>
            <a:ext cx="1143000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3419856"/>
            <a:ext cx="35661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Prophet forecast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69080" y="3419856"/>
            <a:ext cx="35661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50 readings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26680" y="3419856"/>
            <a:ext cx="40233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&lt; 2s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749040"/>
            <a:ext cx="114300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3785616"/>
            <a:ext cx="35661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Chest X-ray inference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69080" y="3785616"/>
            <a:ext cx="35661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Single image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26680" y="3785616"/>
            <a:ext cx="40233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&lt; 1s (CPU)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114800"/>
            <a:ext cx="1143000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4151376"/>
            <a:ext cx="35661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SHAP computation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69080" y="4151376"/>
            <a:ext cx="35661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200 patients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26680" y="4151376"/>
            <a:ext cx="40233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&lt; 10s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4480560"/>
            <a:ext cx="114300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1480" y="4517136"/>
            <a:ext cx="35661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Optimal K sweep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69080" y="4517136"/>
            <a:ext cx="35661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K=2-10, 500 patients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26680" y="4517136"/>
            <a:ext cx="40233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&lt; 15s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5029200"/>
            <a:ext cx="27432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65760" y="5029200"/>
            <a:ext cx="2743200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5488" y="5074920"/>
            <a:ext cx="2523744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Horizontal scaling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5488" y="5486400"/>
            <a:ext cx="2523744" cy="10058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Bef>
                <a:spcPts val="200"/>
              </a:spcBef>
            </a:pPr>
            <a:r>
              <a:rPr sz="1000">
                <a:solidFill>
                  <a:srgbClr val="334155"/>
                </a:solidFill>
                <a:latin typeface="Calibri"/>
              </a:rPr>
              <a:t>•  Stateless ML engine. Multiple instances behind LB; sticky sessions for chatbot.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91840" y="5029200"/>
            <a:ext cx="27432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291840" y="5029200"/>
            <a:ext cx="2743200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01568" y="5074920"/>
            <a:ext cx="2523744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Model caching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01568" y="5486400"/>
            <a:ext cx="2523744" cy="10058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Bef>
                <a:spcPts val="200"/>
              </a:spcBef>
            </a:pPr>
            <a:r>
              <a:rPr sz="1000">
                <a:solidFill>
                  <a:srgbClr val="334155"/>
                </a:solidFill>
                <a:latin typeface="Calibri"/>
              </a:rPr>
              <a:t>•  X-ray models cached in memory after first load; subsequent calls are fast.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17920" y="5029200"/>
            <a:ext cx="27432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217920" y="5029200"/>
            <a:ext cx="274320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27648" y="5074920"/>
            <a:ext cx="2523744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SHAP subsampling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27648" y="5486400"/>
            <a:ext cx="2523744" cy="10058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Bef>
                <a:spcPts val="200"/>
              </a:spcBef>
            </a:pPr>
            <a:r>
              <a:rPr sz="1000">
                <a:solidFill>
                  <a:srgbClr val="334155"/>
                </a:solidFill>
                <a:latin typeface="Calibri"/>
              </a:rPr>
              <a:t>•  Computed on ≤200 samples to prevent timeout on large datasets.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44000" y="5029200"/>
            <a:ext cx="27432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144000" y="5029200"/>
            <a:ext cx="2743200" cy="38404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253728" y="5074920"/>
            <a:ext cx="2523744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Async anomalies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253728" y="5486400"/>
            <a:ext cx="2523744" cy="10058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Bef>
                <a:spcPts val="200"/>
              </a:spcBef>
            </a:pPr>
            <a:r>
              <a:rPr sz="1000">
                <a:solidFill>
                  <a:srgbClr val="334155"/>
                </a:solidFill>
                <a:latin typeface="Calibri"/>
              </a:rPr>
              <a:t>•  Anomaly detection runs in background, never blocks primary response.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Security &amp;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05156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EEF2FF"/>
                </a:solidFill>
                <a:latin typeface="Calibri"/>
              </a:rPr>
              <a:t>Local processing, no external APIs, audit trail by default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MediCluster  ·  Patient Health Risk Segregation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54864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4F46E5"/>
                </a:solidFill>
                <a:latin typeface="Calibri"/>
              </a:rPr>
              <a:t>CURRENT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097280"/>
            <a:ext cx="54864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  <a:latin typeface="Calibri"/>
              </a:rPr>
              <a:t>RECOMMENDED FOR PRODUCTION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463040"/>
            <a:ext cx="5486400" cy="45720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CORS restricted to localhost:3000, :5173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All API inputs validated before ML processing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50MB max upload size (CSV + images)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Error sanitization in production mode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No secrets hardcoded in source code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Sample data uses synthetic patient records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All ML inference runs locally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Audit trail: all clustering runs timestamped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463040"/>
            <a:ext cx="5486400" cy="45720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HTTPS/TLS termination at load balancer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JWT-based auth for all API routes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Role-based access (physician / nurse / admin)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Field-level encryption for sensitive PHI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HIPAA-compliant audit logging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Data retention policies per local regulation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DICOM metadata anonymization (planned)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EHR connector for HL7 FHIR (Phase 2)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6126480"/>
            <a:ext cx="11430000" cy="8229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217920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NOT FDA/CE CLEARED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92240"/>
            <a:ext cx="110642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MediCluster is a decision support tool. All predictions must be reviewed by qualified clinicians. Not a substitute for professional medical judgment.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Testing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05156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EEF2FF"/>
                </a:solidFill>
                <a:latin typeface="Calibri"/>
              </a:rPr>
              <a:t>Smoke tests, feature tests, integration tests, manual API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MediCluster  ·  Patient Health Risk Segregation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27432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2743200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234440"/>
            <a:ext cx="2523744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ML Smoke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645920"/>
            <a:ext cx="2523744" cy="40233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ml-engine/test_smoke.py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Health endpoint returns 'ok'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Clustering response shape correct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Risk profile returns required fields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188720"/>
            <a:ext cx="27432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188720"/>
            <a:ext cx="2743200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1568" y="1234440"/>
            <a:ext cx="2523744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Feature Tests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1568" y="1645920"/>
            <a:ext cx="2523744" cy="40233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ml-engine/test_new_features.py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NLP with sample clinical text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Forecasting with synthetic time series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Drug detection with known pairs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Anomalies with injected outliers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188720"/>
            <a:ext cx="27432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188720"/>
            <a:ext cx="2743200" cy="38404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7648" y="1234440"/>
            <a:ext cx="2523744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Integration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1645920"/>
            <a:ext cx="2523744" cy="40233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ambulance-dispatch/tests/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WebSocket connection establishment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Dispatch event flow (new → complete)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Map rendering with mock coordinates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1188720"/>
            <a:ext cx="27432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0" y="1188720"/>
            <a:ext cx="2743200" cy="3840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53728" y="1234440"/>
            <a:ext cx="2523744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API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3728" y="1645920"/>
            <a:ext cx="2523744" cy="40233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Interactive HTML at :5001/pi_tester.html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Full form interface for all 25+ endpoints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No Postman required for manual testing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•  Live during development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Feature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05156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EEF2FF"/>
                </a:solidFill>
                <a:latin typeface="Calibri"/>
              </a:rPr>
              <a:t>Three phases over the next 18 months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MediCluster  ·  Patient Health Risk Segregation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3749039" cy="51206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25880"/>
            <a:ext cx="3749039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00200"/>
            <a:ext cx="3749039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Complete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03120"/>
            <a:ext cx="3474720" cy="41148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FFFFFF"/>
                </a:solidFill>
                <a:latin typeface="Calibri"/>
              </a:rPr>
              <a:t>•  Core clustering (K-Means, DBSCAN, Hierarchical, GMM)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FFFFF"/>
                </a:solidFill>
                <a:latin typeface="Calibri"/>
              </a:rPr>
              <a:t>•  Risk scoring &amp; 4-tier triage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FFFFF"/>
                </a:solidFill>
                <a:latin typeface="Calibri"/>
              </a:rPr>
              <a:t>•  NLP notes analysis (NER, ICD-10, trajectory)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FFFFF"/>
                </a:solidFill>
                <a:latin typeface="Calibri"/>
              </a:rPr>
              <a:t>•  Chest X-ray AI (5 models + Grad-CAM)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FFFFF"/>
                </a:solidFill>
                <a:latin typeface="Calibri"/>
              </a:rPr>
              <a:t>•  Vital sign forecasting (LSTM + Prophet)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FFFFF"/>
                </a:solidFill>
                <a:latin typeface="Calibri"/>
              </a:rPr>
              <a:t>•  RAG chatbot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FFFFF"/>
                </a:solidFill>
                <a:latin typeface="Calibri"/>
              </a:rPr>
              <a:t>•  Drug interaction checker (12 pairs)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FFFFF"/>
                </a:solidFill>
                <a:latin typeface="Calibri"/>
              </a:rPr>
              <a:t>•  SHAP explainability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FFFFF"/>
                </a:solidFill>
                <a:latin typeface="Calibri"/>
              </a:rPr>
              <a:t>•  Anomaly detection (Isolation Forest)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FFFFF"/>
                </a:solidFill>
                <a:latin typeface="Calibri"/>
              </a:rPr>
              <a:t>•  Ambulance dispatch system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188720"/>
            <a:ext cx="3749039" cy="5120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325880"/>
            <a:ext cx="3749039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PHASE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1600200"/>
            <a:ext cx="3749039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Planned (6-12 mo)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103120"/>
            <a:ext cx="3474720" cy="41148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FFFFFF"/>
                </a:solidFill>
                <a:latin typeface="Calibri"/>
              </a:rPr>
              <a:t>•  Federated learning across hospital networks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FFFFF"/>
                </a:solidFill>
                <a:latin typeface="Calibri"/>
              </a:rPr>
              <a:t>•  Real-time HL7 FHIR integration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FFFFF"/>
                </a:solidFill>
                <a:latin typeface="Calibri"/>
              </a:rPr>
              <a:t>•  EHR connector (Epic, Cerner, Allscripts)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FFFFF"/>
                </a:solidFill>
                <a:latin typeface="Calibri"/>
              </a:rPr>
              <a:t>•  Mobile app for ward nurses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FFFFF"/>
                </a:solidFill>
                <a:latin typeface="Calibri"/>
              </a:rPr>
              <a:t>•  Voice input for clinical notes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FFFFF"/>
                </a:solidFill>
                <a:latin typeface="Calibri"/>
              </a:rPr>
              <a:t>•  Multilingual clinical notes (Hindi, Tamil, etc.)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FFFFF"/>
                </a:solidFill>
                <a:latin typeface="Calibri"/>
              </a:rPr>
              <a:t>•  Wearable device integration (smartwatch vitals)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FFFFF"/>
                </a:solidFill>
                <a:latin typeface="Calibri"/>
              </a:rPr>
              <a:t>•  Population health trend analysis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188720"/>
            <a:ext cx="3749039" cy="5120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325880"/>
            <a:ext cx="3749039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PHASE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600200"/>
            <a:ext cx="3749039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Future (12-18 mo)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103120"/>
            <a:ext cx="3474720" cy="41148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FFFFFF"/>
                </a:solidFill>
                <a:latin typeface="Calibri"/>
              </a:rPr>
              <a:t>•  Predictive readmission prevention program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FFFFF"/>
                </a:solidFill>
                <a:latin typeface="Calibri"/>
              </a:rPr>
              <a:t>•  Insurance risk stratification module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FFFFF"/>
                </a:solidFill>
                <a:latin typeface="Calibri"/>
              </a:rPr>
              <a:t>•  Genomic risk factor integration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FFFFF"/>
                </a:solidFill>
                <a:latin typeface="Calibri"/>
              </a:rPr>
              <a:t>•  Remote patient monitoring (IoT sensors)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FFFFF"/>
                </a:solidFill>
                <a:latin typeface="Calibri"/>
              </a:rPr>
              <a:t>•  Multi-hospital benchmarking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FFFFF"/>
                </a:solidFill>
                <a:latin typeface="Calibri"/>
              </a:rPr>
              <a:t>•  Continuous model retraining pipeline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FFFFF"/>
                </a:solidFill>
                <a:latin typeface="Calibri"/>
              </a:rPr>
              <a:t>•  Adversarial robustness testing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FFFFF"/>
                </a:solidFill>
                <a:latin typeface="Calibri"/>
              </a:rPr>
              <a:t>•  Multi-modal fusion (text + image + vitals)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Known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05156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EEF2FF"/>
                </a:solidFill>
                <a:latin typeface="Calibri"/>
              </a:rPr>
              <a:t>Honest accounting of where MediCluster is not yet production-grade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MediCluster  ·  Patient Health Risk Segregation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54864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  <a:latin typeface="Calibri"/>
              </a:rPr>
              <a:t>CLINICAL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097280"/>
            <a:ext cx="54864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4F46E5"/>
                </a:solidFill>
                <a:latin typeface="Calibri"/>
              </a:rPr>
              <a:t>TECHNICAL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463040"/>
            <a:ext cx="5486400" cy="45720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334155"/>
                </a:solidFill>
                <a:latin typeface="Calibri"/>
              </a:rPr>
              <a:t>•  Not FDA/CE cleared — decision support only, not a medical device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34155"/>
                </a:solidFill>
                <a:latin typeface="Calibri"/>
              </a:rPr>
              <a:t>•  Unsupervised baseline — without labels, risk tiers are heuristic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34155"/>
                </a:solidFill>
                <a:latin typeface="Calibri"/>
              </a:rPr>
              <a:t>•  Limited ICD-10 coverage — ~19 common conditions mapped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34155"/>
                </a:solidFill>
                <a:latin typeface="Calibri"/>
              </a:rPr>
              <a:t>•  Drug interaction coverage — 12 pairs in knowledge base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34155"/>
                </a:solidFill>
                <a:latin typeface="Calibri"/>
              </a:rPr>
              <a:t>•  Requires qualified clinician review of every prediction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463040"/>
            <a:ext cx="5486400" cy="45720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334155"/>
                </a:solidFill>
                <a:latin typeface="Calibri"/>
              </a:rPr>
              <a:t>•  In-memory patient index for RAG — resets on server restart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34155"/>
                </a:solidFill>
                <a:latin typeface="Calibri"/>
              </a:rPr>
              <a:t>•  Single-node ML — LSTM trains per-request, may degrade under high concurrency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34155"/>
                </a:solidFill>
                <a:latin typeface="Calibri"/>
              </a:rPr>
              <a:t>•  DICOM metadata — full anonymization &amp; multi-frame not implemented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34155"/>
                </a:solidFill>
                <a:latin typeface="Calibri"/>
              </a:rPr>
              <a:t>•  No model persistence — supervised AutoML trained per request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334155"/>
                </a:solidFill>
                <a:latin typeface="Calibri"/>
              </a:rPr>
              <a:t>•  FAISS optional — falls back to exact cosine which is slow for large cohorts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6126480"/>
            <a:ext cx="11430000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217920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WHAT WE MITIGATE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92240"/>
            <a:ext cx="110642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EEF2FF"/>
                </a:solidFill>
                <a:latin typeface="Calibri"/>
              </a:rPr>
              <a:t>Graceful degradation at every layer: SHAP → zero stubs, LSTM → linear extrapolation, SpaCy → regex NER, FAISS → exact search. The system never fails — it always returns useful output.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Glossary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05156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EEF2FF"/>
                </a:solidFill>
                <a:latin typeface="Calibri"/>
              </a:rPr>
              <a:t>Key clinical and technical terms used throughout the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MediCluster  ·  Patient Health Risk Segregation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10972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  <a:latin typeface="Consolas"/>
              </a:rPr>
              <a:t>AVPU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280160"/>
            <a:ext cx="43891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Alert, Voice, Pain, Unresponsive — consciousness 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280160"/>
            <a:ext cx="10972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  <a:latin typeface="Consolas"/>
              </a:rPr>
              <a:t>BUN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280160"/>
            <a:ext cx="43891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Blood Urea Nitrogen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737360"/>
            <a:ext cx="10972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  <a:latin typeface="Consolas"/>
              </a:rPr>
              <a:t>CLAHE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1737360"/>
            <a:ext cx="43891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Contrast Limited Adaptive Histogram Equalization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737360"/>
            <a:ext cx="10972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  <a:latin typeface="Consolas"/>
              </a:rPr>
              <a:t>DBSCAN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1737360"/>
            <a:ext cx="43891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Density-Based Spatial Clustering of Applications with Noise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194559"/>
            <a:ext cx="10972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  <a:latin typeface="Consolas"/>
              </a:rPr>
              <a:t>eGFR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194559"/>
            <a:ext cx="43891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Estimated Glomerular Filtration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194559"/>
            <a:ext cx="10972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  <a:latin typeface="Consolas"/>
              </a:rPr>
              <a:t>GMM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194559"/>
            <a:ext cx="43891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Gaussian Mixture Model — soft probabilistic clustering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2651759"/>
            <a:ext cx="10972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  <a:latin typeface="Consolas"/>
              </a:rPr>
              <a:t>Grad-CAM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2651759"/>
            <a:ext cx="43891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Gradient-weighted Class Activation Mapping — visual explanations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651759"/>
            <a:ext cx="10972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  <a:latin typeface="Consolas"/>
              </a:rPr>
              <a:t>HbA1c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2651759"/>
            <a:ext cx="43891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Glycated Hemoglobin — diabetes control marker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3108959"/>
            <a:ext cx="10972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  <a:latin typeface="Consolas"/>
              </a:rPr>
              <a:t>ICD-10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3108959"/>
            <a:ext cx="43891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International Classification of Diseases, 10th Revision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3108959"/>
            <a:ext cx="10972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  <a:latin typeface="Consolas"/>
              </a:rPr>
              <a:t>IQR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3108959"/>
            <a:ext cx="43891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Interquartile Range — used for outlier detection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3566159"/>
            <a:ext cx="10972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  <a:latin typeface="Consolas"/>
              </a:rPr>
              <a:t>LOS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3566159"/>
            <a:ext cx="43891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Length of Stay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3566159"/>
            <a:ext cx="10972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  <a:latin typeface="Consolas"/>
              </a:rPr>
              <a:t>LSTM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3566159"/>
            <a:ext cx="43891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Long Short-Term Memory — recurrent neural network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4023359"/>
            <a:ext cx="10972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  <a:latin typeface="Consolas"/>
              </a:rPr>
              <a:t>MCI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4023359"/>
            <a:ext cx="43891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Mass Casualty Incident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4023359"/>
            <a:ext cx="10972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  <a:latin typeface="Consolas"/>
              </a:rPr>
              <a:t>MEWS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4023359"/>
            <a:ext cx="43891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Modified Early Warning Score — validated deterioration score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4480559"/>
            <a:ext cx="10972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  <a:latin typeface="Consolas"/>
              </a:rPr>
              <a:t>NER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54480" y="4480559"/>
            <a:ext cx="43891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Named Entity Recognition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4480559"/>
            <a:ext cx="10972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  <a:latin typeface="Consolas"/>
              </a:rPr>
              <a:t>OSRM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4480559"/>
            <a:ext cx="43891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Open Source Routing Machine — road-network routing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4937759"/>
            <a:ext cx="10972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  <a:latin typeface="Consolas"/>
              </a:rPr>
              <a:t>PCA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54480" y="4937759"/>
            <a:ext cx="43891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Principal Component Analysis — linear dim reduction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0" y="4937759"/>
            <a:ext cx="10972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  <a:latin typeface="Consolas"/>
              </a:rPr>
              <a:t>PHI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0" y="4937759"/>
            <a:ext cx="43891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Protected Health Information (HIPAA)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5394959"/>
            <a:ext cx="10972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  <a:latin typeface="Consolas"/>
              </a:rPr>
              <a:t>RAG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54480" y="5394959"/>
            <a:ext cx="43891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Retrieval-Augmented Generation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80" y="5394959"/>
            <a:ext cx="10972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  <a:latin typeface="Consolas"/>
              </a:rPr>
              <a:t>SHAP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0" y="5394959"/>
            <a:ext cx="43891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SHapley Additive exPlanations — game-theoretic feature importance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5852159"/>
            <a:ext cx="10972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  <a:latin typeface="Consolas"/>
              </a:rPr>
              <a:t>SpO2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54480" y="5852159"/>
            <a:ext cx="43891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Peripheral oxygen saturation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26480" y="5852159"/>
            <a:ext cx="10972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  <a:latin typeface="Consolas"/>
              </a:rPr>
              <a:t>t-SNE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0" y="5852159"/>
            <a:ext cx="43891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t-Distributed Stochastic Neighbor Embedding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" y="6309359"/>
            <a:ext cx="10972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  <a:latin typeface="Consolas"/>
              </a:rPr>
              <a:t>UMAP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54480" y="6309359"/>
            <a:ext cx="43891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Uniform Manifold Approximation and Projection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26480" y="6309359"/>
            <a:ext cx="10972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  <a:latin typeface="Consolas"/>
              </a:rPr>
              <a:t>WBC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0" y="6309359"/>
            <a:ext cx="43891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White Blood Cell count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Expected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05156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EEF2FF"/>
                </a:solidFill>
                <a:latin typeface="Calibri"/>
              </a:rPr>
              <a:t>What a 500-bed hospital deployment would actually deliver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MediCluster  ·  Patient Health Risk Segregation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2743200" cy="18288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25880"/>
            <a:ext cx="2743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15→2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65960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0" i="1">
                <a:solidFill>
                  <a:srgbClr val="EEF2FF"/>
                </a:solidFill>
                <a:latin typeface="Calibri"/>
              </a:rPr>
              <a:t>Triage time per patient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246888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EEF2FF"/>
                </a:solidFill>
                <a:latin typeface="Calibri"/>
              </a:rPr>
              <a:t>Automated risk stratification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188720"/>
            <a:ext cx="2743200" cy="1828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325880"/>
            <a:ext cx="2743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↓ ICU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1965960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0" i="1">
                <a:solidFill>
                  <a:srgbClr val="EEF2FF"/>
                </a:solidFill>
                <a:latin typeface="Calibri"/>
              </a:rPr>
              <a:t>Preventable transfers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377439"/>
            <a:ext cx="246888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EEF2FF"/>
                </a:solidFill>
                <a:latin typeface="Calibri"/>
              </a:rPr>
              <a:t>MEWS-based early detection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188720"/>
            <a:ext cx="2743200" cy="1828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325880"/>
            <a:ext cx="2743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965960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0" i="1">
                <a:solidFill>
                  <a:srgbClr val="EEF2FF"/>
                </a:solidFill>
                <a:latin typeface="Calibri"/>
              </a:rPr>
              <a:t>Drug safety 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377439"/>
            <a:ext cx="246888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EEF2FF"/>
                </a:solidFill>
                <a:latin typeface="Calibri"/>
              </a:rPr>
              <a:t>Every med list auto-scanned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1188720"/>
            <a:ext cx="2743200" cy="1828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1325880"/>
            <a:ext cx="27432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↓ 30%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965960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0" i="1">
                <a:solidFill>
                  <a:srgbClr val="EEF2FF"/>
                </a:solidFill>
                <a:latin typeface="Calibri"/>
              </a:rPr>
              <a:t>Radiologist routine load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2377439"/>
            <a:ext cx="246888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EEF2FF"/>
                </a:solidFill>
                <a:latin typeface="Calibri"/>
              </a:rPr>
              <a:t>AI X-ray pre-reading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3291839"/>
            <a:ext cx="114300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4F46E5"/>
                </a:solidFill>
                <a:latin typeface="Calibri"/>
              </a:rPr>
              <a:t>FIVE KEY INNOVATIONS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3703320"/>
            <a:ext cx="3749039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3703320"/>
            <a:ext cx="109728" cy="13258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794759"/>
            <a:ext cx="34747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  <a:latin typeface="Calibri"/>
              </a:rPr>
              <a:t>1. Zero-label risk stratification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4160520"/>
            <a:ext cx="3474720" cy="822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Meaningful risk tiers from raw patient data — no pre-labelled training data needed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80" y="3703320"/>
            <a:ext cx="3749039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97680" y="3703320"/>
            <a:ext cx="109728" cy="13258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26280" y="3794759"/>
            <a:ext cx="34747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  <a:latin typeface="Calibri"/>
              </a:rPr>
              <a:t>2. Graceful degradation architecture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4160520"/>
            <a:ext cx="3474720" cy="822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Every component has a fallback: SHAP → zero stubs, LSTM → linear, SpaCy → regex, FAISS → exact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0" y="3703320"/>
            <a:ext cx="3749039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29600" y="3703320"/>
            <a:ext cx="109728" cy="13258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8200" y="3794759"/>
            <a:ext cx="34747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  <a:latin typeface="Calibri"/>
              </a:rPr>
              <a:t>3. Field alias resolution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8200" y="4160520"/>
            <a:ext cx="3474720" cy="822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Handles diverse EHR column naming conventions — works with any hospital data export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5760" y="5166360"/>
            <a:ext cx="3749039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5760" y="5166360"/>
            <a:ext cx="109728" cy="13258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5257800"/>
            <a:ext cx="34747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  <a:latin typeface="Calibri"/>
              </a:rPr>
              <a:t>4. Clinical transparency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5623560"/>
            <a:ext cx="3474720" cy="822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Every prediction includes SHAP explanations, confidence scores, natural-language care plans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97680" y="5166360"/>
            <a:ext cx="3749039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97680" y="5166360"/>
            <a:ext cx="109728" cy="13258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26280" y="5257800"/>
            <a:ext cx="34747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  <a:latin typeface="Calibri"/>
              </a:rPr>
              <a:t>5. Integrated emergency ecosystem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26280" y="5623560"/>
            <a:ext cx="3474720" cy="822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Risk scoring → ambulance dispatch → MCI board — covers full emergency care workflow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2286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731520"/>
            <a:ext cx="12191695" cy="10972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libri"/>
              </a:rPr>
              <a:t>MediCluster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800" b="0" i="1">
                <a:solidFill>
                  <a:srgbClr val="EEF2FF"/>
                </a:solidFill>
                <a:latin typeface="Calibri"/>
              </a:rPr>
              <a:t>From raw patient data to clinical action — in one platform.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651760"/>
            <a:ext cx="1920240" cy="1463040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788920"/>
            <a:ext cx="192024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192024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0" i="0">
                <a:solidFill>
                  <a:srgbClr val="EEF2FF"/>
                </a:solidFill>
                <a:latin typeface="Calibri"/>
              </a:rPr>
              <a:t>Clustering
algorithms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2651760"/>
            <a:ext cx="1920240" cy="1463040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2788920"/>
            <a:ext cx="192024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3474720"/>
            <a:ext cx="192024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0" i="0">
                <a:solidFill>
                  <a:srgbClr val="EEF2FF"/>
                </a:solidFill>
                <a:latin typeface="Calibri"/>
              </a:rPr>
              <a:t>Imaging
models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2651760"/>
            <a:ext cx="1920240" cy="1463040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2788920"/>
            <a:ext cx="192024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20+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3474720"/>
            <a:ext cx="192024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0" i="0">
                <a:solidFill>
                  <a:srgbClr val="EEF2FF"/>
                </a:solidFill>
                <a:latin typeface="Calibri"/>
              </a:rPr>
              <a:t>ML/NLP
endpoints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199" y="2651760"/>
            <a:ext cx="1920240" cy="1463040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199" y="2788920"/>
            <a:ext cx="192024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199" y="3474720"/>
            <a:ext cx="192024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0" i="0">
                <a:solidFill>
                  <a:srgbClr val="EEF2FF"/>
                </a:solidFill>
                <a:latin typeface="Calibri"/>
              </a:rPr>
              <a:t>Frontend
pages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09760" y="2651760"/>
            <a:ext cx="1920240" cy="1463040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0" y="2788920"/>
            <a:ext cx="192024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3474720"/>
            <a:ext cx="192024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0" i="0">
                <a:solidFill>
                  <a:srgbClr val="EEF2FF"/>
                </a:solidFill>
                <a:latin typeface="Calibri"/>
              </a:rPr>
              <a:t>AI-powered
dashboards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ML Clustering  ·  LungLens Imaging  ·  CliniQ NLP  ·  ARIA Dispatch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5394960"/>
            <a:ext cx="12191695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0" i="1">
                <a:solidFill>
                  <a:srgbClr val="EEF2FF"/>
                </a:solidFill>
                <a:latin typeface="Calibri"/>
              </a:rPr>
              <a:t>Built for healthcare professionals who demand precision, transparency, and zero-fail operation.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0" y="6035040"/>
            <a:ext cx="12191695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0" i="1">
                <a:solidFill>
                  <a:srgbClr val="C7D2FE"/>
                </a:solidFill>
                <a:latin typeface="Calibri"/>
              </a:rPr>
              <a:t>CtrlAltElite  ·  M S Engineering College  ·  May 2026  ·  http://localhost:5173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0" y="4206240"/>
            <a:ext cx="12191695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0" i="1">
                <a:solidFill>
                  <a:srgbClr val="A5B4FC"/>
                </a:solidFill>
                <a:latin typeface="Calibri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